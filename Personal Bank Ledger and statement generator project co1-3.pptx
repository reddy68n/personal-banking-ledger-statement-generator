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1" r:id="rId4"/>
    <p:sldId id="258" r:id="rId5"/>
    <p:sldId id="259"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BAB941-2612-42F9-98ED-D11D92212D8F}" v="21" dt="2026-10-15T16:00:11.6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dirty="0"/>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16-10-2026</a:t>
            </a:fld>
            <a:endParaRPr lang="en-IN" dirty="0"/>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16-10-2026</a:t>
            </a:fld>
            <a:endParaRPr lang="en-IN" dirty="0"/>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16-10-2026</a:t>
            </a:fld>
            <a:endParaRPr lang="en-IN" dirty="0"/>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16-10-2026</a:t>
            </a:fld>
            <a:endParaRPr lang="en-IN" dirty="0"/>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16-10-2026</a:t>
            </a:fld>
            <a:endParaRPr lang="en-IN" dirty="0"/>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16-10-2026</a:t>
            </a:fld>
            <a:endParaRPr lang="en-IN" dirty="0"/>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16-10-2026</a:t>
            </a:fld>
            <a:endParaRPr lang="en-IN" dirty="0"/>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16-10-2026</a:t>
            </a:fld>
            <a:endParaRPr lang="en-IN" dirty="0"/>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16-10-2026</a:t>
            </a:fld>
            <a:endParaRPr lang="en-IN" dirty="0"/>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dirty="0"/>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16-10-2026</a:t>
            </a:fld>
            <a:endParaRPr lang="en-IN" dirty="0"/>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dirty="0"/>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16-10-2026</a:t>
            </a:fld>
            <a:endParaRPr lang="en-IN" dirty="0"/>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dirty="0"/>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16-10-2026</a:t>
            </a:fld>
            <a:endParaRPr lang="en-IN" dirty="0"/>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dirty="0"/>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reddy68n/PERSONAL-BANKING-LEDGER-STATEMENT-GENERATOR.git" TargetMode="External"/><Relationship Id="rId2" Type="http://schemas.openxmlformats.org/officeDocument/2006/relationships/hyperlink" Target="https://github.com/reddy68n" TargetMode="Externa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hyperlink" Target="https://github.com/ratala-saikuma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a:normAutofit fontScale="90000"/>
          </a:bodyPr>
          <a:lstStyle/>
          <a:p>
            <a:pPr>
              <a:lnSpc>
                <a:spcPct val="100000"/>
              </a:lnSpc>
            </a:pPr>
            <a:r>
              <a:rPr lang="en-US" dirty="0"/>
              <a:t> </a:t>
            </a:r>
            <a:r>
              <a:rPr lang="en-US" b="1" dirty="0"/>
              <a:t>Personal Bank Ledger and Statement Generator </a:t>
            </a:r>
            <a:br>
              <a:rPr lang="en-US" b="1" dirty="0"/>
            </a:br>
            <a:r>
              <a:rPr lang="en-US" b="1" dirty="0"/>
              <a:t>TEAM NO : 10</a:t>
            </a:r>
            <a:endParaRPr lang="en-IN" dirty="0"/>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a:xfrm>
            <a:off x="1691148" y="5065713"/>
            <a:ext cx="9144000" cy="1655762"/>
          </a:xfrm>
        </p:spPr>
        <p:txBody>
          <a:bodyPr/>
          <a:lstStyle/>
          <a:p>
            <a:r>
              <a:rPr lang="en-IN" dirty="0"/>
              <a:t>Student Name : R.Sai Kumar 	         Roll No : 2620090005</a:t>
            </a:r>
          </a:p>
          <a:p>
            <a:r>
              <a:rPr lang="en-IN" dirty="0"/>
              <a:t>Student Name : Narasimha Reddy            Roll No : 2620040086</a:t>
            </a:r>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16-10-2026</a:t>
            </a:fld>
            <a:endParaRPr lang="en-IN" dirty="0"/>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dirty="0"/>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838200" y="1435510"/>
            <a:ext cx="10515600" cy="4741453"/>
          </a:xfrm>
        </p:spPr>
        <p:txBody>
          <a:bodyPr>
            <a:normAutofit fontScale="85000" lnSpcReduction="20000"/>
          </a:bodyPr>
          <a:lstStyle/>
          <a:p>
            <a:endParaRPr lang="en-IN" dirty="0"/>
          </a:p>
          <a:p>
            <a:pPr marL="0" indent="0">
              <a:buNone/>
            </a:pPr>
            <a:r>
              <a:rPr lang="en-US" dirty="0"/>
              <a:t> </a:t>
            </a:r>
            <a:r>
              <a:rPr lang="en-US" b="1" dirty="0"/>
              <a:t>Personal Bank Ledger and Statement Generator </a:t>
            </a:r>
            <a:endParaRPr lang="en-IN" dirty="0"/>
          </a:p>
          <a:p>
            <a:pPr marL="0" indent="0">
              <a:buNone/>
            </a:pPr>
            <a:r>
              <a:rPr lang="en-IN" dirty="0"/>
              <a:t> </a:t>
            </a:r>
            <a:r>
              <a:rPr lang="en-IN" b="1" dirty="0"/>
              <a:t>Abstract : </a:t>
            </a:r>
          </a:p>
          <a:p>
            <a:pPr marL="0" indent="0">
              <a:buNone/>
            </a:pPr>
            <a:r>
              <a:rPr lang="en-US" dirty="0"/>
              <a:t>The </a:t>
            </a:r>
            <a:r>
              <a:rPr lang="en-US" b="1" dirty="0"/>
              <a:t>Personal Bank Ledger and Statement Generator </a:t>
            </a:r>
            <a:r>
              <a:rPr lang="en-US" dirty="0"/>
              <a:t>is a Java-based application designed to maintain and generate a simple personal banking record. The system allows users to enter account details, opening balance, and multiple financial transactions. For each transaction, the user can specify the </a:t>
            </a:r>
            <a:r>
              <a:rPr lang="en-US" b="1" dirty="0"/>
              <a:t>description, payment type, transaction type, and amo</a:t>
            </a:r>
            <a:r>
              <a:rPr lang="en-US" dirty="0"/>
              <a:t>unt. The program automatically calculates the updated account balance, total deposits, and total withdrawals while preventing withdrawals that exceed the available balance. Finally, it generates a formatted bank statement displaying all transaction details and the closing balance. </a:t>
            </a:r>
          </a:p>
          <a:p>
            <a:pPr marL="0" indent="0">
              <a:buNone/>
            </a:pPr>
            <a:r>
              <a:rPr lang="en-US" dirty="0"/>
              <a:t>On developing this program, it helps the user to </a:t>
            </a:r>
            <a:r>
              <a:rPr lang="en-US" b="1" dirty="0"/>
              <a:t>avoid paper work</a:t>
            </a:r>
            <a:r>
              <a:rPr lang="en-US" dirty="0"/>
              <a:t>, it </a:t>
            </a:r>
            <a:r>
              <a:rPr lang="en-US" b="1" dirty="0"/>
              <a:t>saves lot of time </a:t>
            </a:r>
            <a:r>
              <a:rPr lang="en-US" dirty="0"/>
              <a:t>for user, it </a:t>
            </a:r>
            <a:r>
              <a:rPr lang="en-US" b="1" dirty="0"/>
              <a:t>minimizes wrong entries</a:t>
            </a:r>
            <a:r>
              <a:rPr lang="en-US" dirty="0"/>
              <a:t>. It also provides an organized and reliable method for maintaining records and generating useful reports. </a:t>
            </a:r>
            <a:endParaRPr lang="en-IN" dirty="0"/>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16-10-2026</a:t>
            </a:fld>
            <a:endParaRPr lang="en-IN" dirty="0"/>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dirty="0"/>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a:xfrm>
            <a:off x="690716" y="1690688"/>
            <a:ext cx="10515600" cy="4351338"/>
          </a:xfrm>
        </p:spPr>
        <p:txBody>
          <a:bodyPr>
            <a:normAutofit fontScale="92500" lnSpcReduction="10000"/>
          </a:bodyPr>
          <a:lstStyle/>
          <a:p>
            <a:pPr marL="0" indent="0">
              <a:buNone/>
            </a:pPr>
            <a:r>
              <a:rPr lang="en-IN" dirty="0"/>
              <a:t>The main problem addressed by the Personal Bank Ledger and Statement Generator is the difficulty of maintaining personal financial records manually. Recording deposits and withdrawals, calculating the remaining balance, tracking transaction details, and preparing financial statements by hand can be time-consuming and may lead to calculation errors.</a:t>
            </a:r>
          </a:p>
          <a:p>
            <a:pPr marL="0" indent="0">
              <a:buNone/>
            </a:pPr>
            <a:r>
              <a:rPr lang="en-IN" dirty="0"/>
              <a:t>The system aims to provide a centralized and organized solution for managing personal transactions. It automatically updates the balance after each successful transaction, prevents withdrawals beyond the available balance, assigns unique transaction IDs and maintains a history of transactions. It also summarizes total deposits and withdrawals and generates a formatted statement for future reference. </a:t>
            </a:r>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dirty="0"/>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dirty="0"/>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p:txBody>
          <a:bodyPr/>
          <a:lstStyle/>
          <a:p>
            <a:r>
              <a:rPr lang="en-IN" dirty="0"/>
              <a:t>CO 1 Topics</a:t>
            </a:r>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p:txBody>
          <a:bodyPr>
            <a:normAutofit/>
          </a:bodyPr>
          <a:lstStyle/>
          <a:p>
            <a:pPr lvl="0"/>
            <a:r>
              <a:rPr lang="en-IN" dirty="0"/>
              <a:t>Primitive data types: int, double, </a:t>
            </a:r>
            <a:r>
              <a:rPr lang="en-IN" dirty="0" err="1"/>
              <a:t>boolean</a:t>
            </a:r>
            <a:endParaRPr lang="en-IN" dirty="0"/>
          </a:p>
          <a:p>
            <a:pPr lvl="0"/>
            <a:r>
              <a:rPr lang="en-IN" dirty="0"/>
              <a:t>Variables and constants: variables, static final</a:t>
            </a:r>
          </a:p>
          <a:p>
            <a:pPr lvl="0"/>
            <a:r>
              <a:rPr lang="en-IN" dirty="0"/>
              <a:t>Identifiers and literals</a:t>
            </a:r>
          </a:p>
          <a:p>
            <a:pPr lvl="0"/>
            <a:r>
              <a:rPr lang="en-IN" dirty="0"/>
              <a:t>Operators: arithmetic, relational, logical, and assignment</a:t>
            </a:r>
          </a:p>
          <a:p>
            <a:pPr lvl="0"/>
            <a:r>
              <a:rPr lang="en-IN" dirty="0"/>
              <a:t>Expression evaluation and operator precedence</a:t>
            </a:r>
          </a:p>
          <a:p>
            <a:pPr lvl="0"/>
            <a:r>
              <a:rPr lang="en-IN" dirty="0"/>
              <a:t>Console input using Scanner</a:t>
            </a:r>
          </a:p>
          <a:p>
            <a:pPr lvl="0"/>
            <a:r>
              <a:rPr lang="en-IN" dirty="0"/>
              <a:t>Formatted output using </a:t>
            </a:r>
            <a:r>
              <a:rPr lang="en-IN" dirty="0" err="1"/>
              <a:t>System.out.printf</a:t>
            </a:r>
            <a:r>
              <a:rPr lang="en-IN" dirty="0"/>
              <a:t>()</a:t>
            </a:r>
          </a:p>
          <a:p>
            <a:pPr lvl="0"/>
            <a:r>
              <a:rPr lang="en-IN" dirty="0"/>
              <a:t>Problem-solving and program structure</a:t>
            </a:r>
          </a:p>
          <a:p>
            <a:pPr marL="0" indent="0">
              <a:buNone/>
            </a:pPr>
            <a:endParaRPr lang="en-IN" dirty="0"/>
          </a:p>
          <a:p>
            <a:endParaRPr lang="en-IN" sz="2400" dirty="0"/>
          </a:p>
          <a:p>
            <a:pPr lvl="0"/>
            <a:endParaRPr lang="en-IN" dirty="0"/>
          </a:p>
          <a:p>
            <a:pPr lvl="0"/>
            <a:endParaRPr lang="en-IN" sz="2400" dirty="0"/>
          </a:p>
          <a:p>
            <a:endParaRPr lang="en-IN" dirty="0"/>
          </a:p>
          <a:p>
            <a:endParaRPr lang="en-IN" dirty="0"/>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16-10-2026</a:t>
            </a:fld>
            <a:endParaRPr lang="en-IN" dirty="0"/>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pic>
        <p:nvPicPr>
          <p:cNvPr id="7" name="Picture 6">
            <a:extLst>
              <a:ext uri="{FF2B5EF4-FFF2-40B4-BE49-F238E27FC236}">
                <a16:creationId xmlns:a16="http://schemas.microsoft.com/office/drawing/2014/main" id="{D02A7718-3F99-7039-F8CA-72F2CF7A323B}"/>
              </a:ext>
            </a:extLst>
          </p:cNvPr>
          <p:cNvPicPr>
            <a:picLocks noChangeAspect="1"/>
          </p:cNvPicPr>
          <p:nvPr/>
        </p:nvPicPr>
        <p:blipFill>
          <a:blip r:embed="rId2"/>
          <a:stretch>
            <a:fillRect/>
          </a:stretch>
        </p:blipFill>
        <p:spPr>
          <a:xfrm>
            <a:off x="8259990" y="564707"/>
            <a:ext cx="3860890" cy="2251962"/>
          </a:xfrm>
          <a:prstGeom prst="rect">
            <a:avLst/>
          </a:prstGeom>
        </p:spPr>
      </p:pic>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p:txBody>
          <a:bodyPr/>
          <a:lstStyle/>
          <a:p>
            <a:r>
              <a:rPr lang="en-IN" dirty="0"/>
              <a:t>Co 2 TOPICS</a:t>
            </a:r>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p:txBody>
          <a:bodyPr/>
          <a:lstStyle/>
          <a:p>
            <a:pPr lvl="0"/>
            <a:r>
              <a:rPr lang="en-IN" dirty="0"/>
              <a:t>Conditional statements: if, if-else</a:t>
            </a:r>
          </a:p>
          <a:p>
            <a:pPr lvl="0"/>
            <a:r>
              <a:rPr lang="en-IN" dirty="0"/>
              <a:t>switch statement with case, break, and default</a:t>
            </a:r>
          </a:p>
          <a:p>
            <a:pPr lvl="0"/>
            <a:r>
              <a:rPr lang="en-IN" dirty="0"/>
              <a:t>do-while loop</a:t>
            </a:r>
          </a:p>
          <a:p>
            <a:pPr lvl="0"/>
            <a:r>
              <a:rPr lang="en-IN" dirty="0"/>
              <a:t>while loop</a:t>
            </a:r>
          </a:p>
          <a:p>
            <a:pPr lvl="0"/>
            <a:r>
              <a:rPr lang="en-IN" dirty="0"/>
              <a:t>Enhanced for loop</a:t>
            </a:r>
          </a:p>
          <a:p>
            <a:pPr lvl="0"/>
            <a:r>
              <a:rPr lang="en-IN" dirty="0"/>
              <a:t>Input validation using conditions</a:t>
            </a:r>
          </a:p>
          <a:p>
            <a:pPr lvl="0"/>
            <a:r>
              <a:rPr lang="en-IN" dirty="0"/>
              <a:t>Menu-driven programming</a:t>
            </a:r>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16-10-2026</a:t>
            </a:fld>
            <a:endParaRPr lang="en-IN" dirty="0"/>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5</a:t>
            </a:fld>
            <a:endParaRPr lang="en-IN" dirty="0"/>
          </a:p>
        </p:txBody>
      </p:sp>
      <p:pic>
        <p:nvPicPr>
          <p:cNvPr id="7" name="Picture 6">
            <a:extLst>
              <a:ext uri="{FF2B5EF4-FFF2-40B4-BE49-F238E27FC236}">
                <a16:creationId xmlns:a16="http://schemas.microsoft.com/office/drawing/2014/main" id="{87638DC0-AF89-6251-E6F1-C7FDB8FA48A3}"/>
              </a:ext>
            </a:extLst>
          </p:cNvPr>
          <p:cNvPicPr>
            <a:picLocks noChangeAspect="1"/>
          </p:cNvPicPr>
          <p:nvPr/>
        </p:nvPicPr>
        <p:blipFill>
          <a:blip r:embed="rId2"/>
          <a:stretch>
            <a:fillRect/>
          </a:stretch>
        </p:blipFill>
        <p:spPr>
          <a:xfrm>
            <a:off x="7040880" y="2824480"/>
            <a:ext cx="4571999" cy="2885440"/>
          </a:xfrm>
          <a:prstGeom prst="rect">
            <a:avLst/>
          </a:prstGeom>
        </p:spPr>
      </p:pic>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p:txBody>
          <a:bodyPr/>
          <a:lstStyle/>
          <a:p>
            <a:r>
              <a:rPr lang="en-IN" dirty="0"/>
              <a:t>CO 3 Topics</a:t>
            </a:r>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p:txBody>
          <a:bodyPr>
            <a:normAutofit/>
          </a:bodyPr>
          <a:lstStyle/>
          <a:p>
            <a:pPr lvl="0"/>
            <a:r>
              <a:rPr lang="en-IN" dirty="0"/>
              <a:t>Modular programming using methods</a:t>
            </a:r>
          </a:p>
          <a:p>
            <a:pPr lvl="0"/>
            <a:r>
              <a:rPr lang="en-IN" dirty="0"/>
              <a:t>Parameter passing and return values</a:t>
            </a:r>
          </a:p>
          <a:p>
            <a:pPr lvl="0"/>
            <a:r>
              <a:rPr lang="en-IN" dirty="0"/>
              <a:t>Method overloading (deposit())</a:t>
            </a:r>
          </a:p>
          <a:p>
            <a:pPr lvl="0"/>
            <a:r>
              <a:rPr lang="en-IN" dirty="0"/>
              <a:t>Recursion: transaction searching</a:t>
            </a:r>
          </a:p>
          <a:p>
            <a:pPr lvl="0"/>
            <a:r>
              <a:rPr lang="en-IN" dirty="0"/>
              <a:t>Searching for a transaction by ID</a:t>
            </a:r>
          </a:p>
          <a:p>
            <a:pPr lvl="0"/>
            <a:r>
              <a:rPr lang="en-IN" dirty="0"/>
              <a:t>Traversal of transaction records</a:t>
            </a:r>
          </a:p>
          <a:p>
            <a:pPr lvl="0"/>
            <a:r>
              <a:rPr lang="en-IN" dirty="0"/>
              <a:t>Searching for a transaction by ID</a:t>
            </a:r>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16-10-2026</a:t>
            </a:fld>
            <a:endParaRPr lang="en-IN" dirty="0"/>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6</a:t>
            </a:fld>
            <a:endParaRPr lang="en-IN" dirty="0"/>
          </a:p>
        </p:txBody>
      </p:sp>
      <p:pic>
        <p:nvPicPr>
          <p:cNvPr id="7" name="Picture 6">
            <a:extLst>
              <a:ext uri="{FF2B5EF4-FFF2-40B4-BE49-F238E27FC236}">
                <a16:creationId xmlns:a16="http://schemas.microsoft.com/office/drawing/2014/main" id="{ADF75FFF-AE6F-1D83-D27F-3289A22E2FE5}"/>
              </a:ext>
            </a:extLst>
          </p:cNvPr>
          <p:cNvPicPr>
            <a:picLocks noChangeAspect="1"/>
          </p:cNvPicPr>
          <p:nvPr/>
        </p:nvPicPr>
        <p:blipFill>
          <a:blip r:embed="rId2"/>
          <a:stretch>
            <a:fillRect/>
          </a:stretch>
        </p:blipFill>
        <p:spPr>
          <a:xfrm>
            <a:off x="6929121" y="1239520"/>
            <a:ext cx="4886960" cy="4643120"/>
          </a:xfrm>
          <a:prstGeom prst="rect">
            <a:avLst/>
          </a:prstGeom>
        </p:spPr>
      </p:pic>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a:xfrm>
            <a:off x="1880419" y="185738"/>
            <a:ext cx="10515600" cy="1325563"/>
          </a:xfrm>
        </p:spPr>
        <p:txBody>
          <a:bodyPr/>
          <a:lstStyle/>
          <a:p>
            <a:r>
              <a:rPr lang="en-IN" dirty="0"/>
              <a:t>Geo Tag Photo and git 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a:xfrm>
            <a:off x="4984955" y="1209368"/>
            <a:ext cx="6368844" cy="4967595"/>
          </a:xfrm>
        </p:spPr>
        <p:txBody>
          <a:bodyPr/>
          <a:lstStyle/>
          <a:p>
            <a:pPr marL="0" indent="0">
              <a:buNone/>
            </a:pPr>
            <a:endParaRPr lang="en-IN" u="sng" dirty="0">
              <a:hlinkClick r:id="rId2">
                <a:extLst>
                  <a:ext uri="{A12FA001-AC4F-418D-AE19-62706E023703}">
                    <ahyp:hlinkClr xmlns:ahyp="http://schemas.microsoft.com/office/drawing/2018/hyperlinkcolor" val="tx"/>
                  </a:ext>
                </a:extLst>
              </a:hlinkClick>
            </a:endParaRPr>
          </a:p>
          <a:p>
            <a:r>
              <a:rPr lang="en-IN" u="sng" dirty="0"/>
              <a:t>GITHUB LINK :</a:t>
            </a:r>
            <a:r>
              <a:rPr lang="en-IN" u="sng" dirty="0">
                <a:solidFill>
                  <a:srgbClr val="467886"/>
                </a:solidFill>
              </a:rPr>
              <a:t> </a:t>
            </a:r>
            <a:r>
              <a:rPr lang="en-IN" u="sng" dirty="0">
                <a:solidFill>
                  <a:srgbClr val="467886"/>
                </a:solidFill>
                <a:hlinkClick r:id="rId3"/>
              </a:rPr>
              <a:t>https://github.com/reddy68n/PERSONAL-BANKING-LEDGER-STATEMENT-GENERATOR.git</a:t>
            </a:r>
            <a:endParaRPr lang="en-IN" u="sng" dirty="0">
              <a:solidFill>
                <a:srgbClr val="467886"/>
              </a:solidFill>
            </a:endParaRPr>
          </a:p>
          <a:p>
            <a:r>
              <a:rPr lang="en-IN" u="sng" dirty="0">
                <a:hlinkClick r:id="rId2">
                  <a:extLst>
                    <a:ext uri="{A12FA001-AC4F-418D-AE19-62706E023703}">
                      <ahyp:hlinkClr xmlns:ahyp="http://schemas.microsoft.com/office/drawing/2018/hyperlinkcolor" val="tx"/>
                    </a:ext>
                  </a:extLst>
                </a:hlinkClick>
              </a:rPr>
              <a:t>GITHUB NARASIMHA REDDY : </a:t>
            </a:r>
            <a:r>
              <a:rPr lang="en-IN" u="sng" dirty="0">
                <a:solidFill>
                  <a:srgbClr val="467886"/>
                </a:solidFill>
                <a:hlinkClick r:id="rId2">
                  <a:extLst>
                    <a:ext uri="{A12FA001-AC4F-418D-AE19-62706E023703}">
                      <ahyp:hlinkClr xmlns:ahyp="http://schemas.microsoft.com/office/drawing/2018/hyperlinkcolor" val="tx"/>
                    </a:ext>
                  </a:extLst>
                </a:hlinkClick>
              </a:rPr>
              <a:t>https://github.com/</a:t>
            </a:r>
            <a:r>
              <a:rPr lang="en-IN" u="sng" dirty="0">
                <a:solidFill>
                  <a:srgbClr val="467886"/>
                </a:solidFill>
              </a:rPr>
              <a:t>reddy68n</a:t>
            </a:r>
          </a:p>
          <a:p>
            <a:r>
              <a:rPr lang="en-IN" u="sng" dirty="0">
                <a:hlinkClick r:id="rId4">
                  <a:extLst>
                    <a:ext uri="{A12FA001-AC4F-418D-AE19-62706E023703}">
                      <ahyp:hlinkClr xmlns:ahyp="http://schemas.microsoft.com/office/drawing/2018/hyperlinkcolor" val="tx"/>
                    </a:ext>
                  </a:extLst>
                </a:hlinkClick>
              </a:rPr>
              <a:t>GITHUB SAIKUMAR : </a:t>
            </a:r>
            <a:r>
              <a:rPr lang="en-IN" u="sng" dirty="0">
                <a:solidFill>
                  <a:srgbClr val="467886"/>
                </a:solidFill>
                <a:hlinkClick r:id="rId4">
                  <a:extLst>
                    <a:ext uri="{A12FA001-AC4F-418D-AE19-62706E023703}">
                      <ahyp:hlinkClr xmlns:ahyp="http://schemas.microsoft.com/office/drawing/2018/hyperlinkcolor" val="tx"/>
                    </a:ext>
                  </a:extLst>
                </a:hlinkClick>
              </a:rPr>
              <a:t>https://github.com/ratala-saikumar</a:t>
            </a:r>
            <a:endParaRPr lang="en-IN" u="sng" dirty="0">
              <a:solidFill>
                <a:srgbClr val="467886"/>
              </a:solidFill>
            </a:endParaRPr>
          </a:p>
          <a:p>
            <a:endParaRPr lang="en-IN" u="sng" dirty="0">
              <a:solidFill>
                <a:srgbClr val="1155CC"/>
              </a:solidFill>
              <a:latin typeface="Aptos" panose="020B0004020202020204" pitchFamily="34" charset="0"/>
            </a:endParaRPr>
          </a:p>
          <a:p>
            <a:endParaRPr lang="en-IN" dirty="0"/>
          </a:p>
          <a:p>
            <a:endParaRPr lang="en-IN" dirty="0"/>
          </a:p>
        </p:txBody>
      </p:sp>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16-10-2026</a:t>
            </a:fld>
            <a:endParaRPr lang="en-IN" dirty="0"/>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7</a:t>
            </a:fld>
            <a:endParaRPr lang="en-IN" dirty="0"/>
          </a:p>
        </p:txBody>
      </p:sp>
      <p:pic>
        <p:nvPicPr>
          <p:cNvPr id="7" name="Picture 6">
            <a:extLst>
              <a:ext uri="{FF2B5EF4-FFF2-40B4-BE49-F238E27FC236}">
                <a16:creationId xmlns:a16="http://schemas.microsoft.com/office/drawing/2014/main" id="{B76D78F9-6A0F-7797-5D5A-1A853D48A4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155" y="1396181"/>
            <a:ext cx="4876800" cy="4780782"/>
          </a:xfrm>
          <a:prstGeom prst="rect">
            <a:avLst/>
          </a:prstGeom>
        </p:spPr>
      </p:pic>
      <p:sp>
        <p:nvSpPr>
          <p:cNvPr id="8" name="TextBox 7">
            <a:extLst>
              <a:ext uri="{FF2B5EF4-FFF2-40B4-BE49-F238E27FC236}">
                <a16:creationId xmlns:a16="http://schemas.microsoft.com/office/drawing/2014/main" id="{F1E625A6-DA43-8AA3-1453-178EBC7B7579}"/>
              </a:ext>
            </a:extLst>
          </p:cNvPr>
          <p:cNvSpPr txBox="1"/>
          <p:nvPr/>
        </p:nvSpPr>
        <p:spPr>
          <a:xfrm>
            <a:off x="12801600" y="1032387"/>
            <a:ext cx="184731" cy="369332"/>
          </a:xfrm>
          <a:prstGeom prst="rect">
            <a:avLst/>
          </a:prstGeom>
          <a:noFill/>
        </p:spPr>
        <p:txBody>
          <a:bodyPr wrap="none" rtlCol="0">
            <a:spAutoFit/>
          </a:bodyPr>
          <a:lstStyle/>
          <a:p>
            <a:endParaRPr lang="en-IN"/>
          </a:p>
        </p:txBody>
      </p:sp>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481</Words>
  <Application>Microsoft Office PowerPoint</Application>
  <PresentationFormat>Widescreen</PresentationFormat>
  <Paragraphs>61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 Personal Bank Ledger and Statement Generator  TEAM NO : 10</vt:lpstr>
      <vt:lpstr>Abstract</vt:lpstr>
      <vt:lpstr>Understanding Problem Statement</vt:lpstr>
      <vt:lpstr>CO 1 Topics</vt:lpstr>
      <vt:lpstr>Co 2 TOPICS</vt:lpstr>
      <vt:lpstr>CO 3 Topics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Narasimha Reddy</cp:lastModifiedBy>
  <cp:revision>3</cp:revision>
  <dcterms:created xsi:type="dcterms:W3CDTF">2026-09-15T09:57:10Z</dcterms:created>
  <dcterms:modified xsi:type="dcterms:W3CDTF">2026-10-16T06:00:53Z</dcterms:modified>
</cp:coreProperties>
</file>
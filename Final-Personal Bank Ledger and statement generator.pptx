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29.jpg" ContentType="image/jp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15A852-0E6C-7B6D-33FD-AC95606B5CFB}">
          <p14:sldIdLst>
            <p14:sldId id="256"/>
          </p14:sldIdLst>
        </p14:section>
        <p14:section name="Overview" id="{7B67F340-6E46-5957-C639-42CFFB78A484}">
          <p14:sldIdLst>
            <p14:sldId id="257"/>
            <p14:sldId id="258"/>
            <p14:sldId id="259"/>
          </p14:sldIdLst>
        </p14:section>
        <p14:section name="Java Concepts" id="{0F71913C-C461-C34F-6A90-DBF5792EED1C}">
          <p14:sldIdLst>
            <p14:sldId id="260"/>
            <p14:sldId id="261"/>
            <p14:sldId id="262"/>
            <p14:sldId id="263"/>
            <p14:sldId id="264"/>
            <p14:sldId id="265"/>
          </p14:sldIdLst>
        </p14:section>
        <p14:section name="Results" id="{6EA284C7-5924-1E68-EEE3-A2DA47DD624E}">
          <p14:sldIdLst>
            <p14:sldId id="266"/>
            <p14:sldId id="267"/>
            <p14:sldId id="268"/>
            <p14:sldId id="269"/>
            <p14:sldId id="27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925946-7702-42FE-8338-26B670F58CFC}" v="7" dt="2026-10-16T03:03:26.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78" d="100"/>
          <a:sy n="78" d="100"/>
        </p:scale>
        <p:origin x="850" y="24"/>
      </p:cViewPr>
      <p:guideLst/>
    </p:cSldViewPr>
  </p:slideViewPr>
  <p:notesTextViewPr>
    <p:cViewPr>
      <p:scale>
        <a:sx n="1" d="1"/>
        <a:sy n="1" d="1"/>
      </p:scale>
      <p:origin x="0" y="0"/>
    </p:cViewPr>
  </p:notesTextViewPr>
  <p:notesViewPr>
    <p:cSldViewPr snapToGrid="0" snapToObjects="1">
      <p:cViewPr varScale="1">
        <p:scale>
          <a:sx n="47" d="100"/>
          <a:sy n="47" d="100"/>
        </p:scale>
        <p:origin x="3552"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ha Reddy" userId="7e058d64e6014b68" providerId="LiveId" clId="{07076267-ECF5-4050-A115-688950085FDA}"/>
    <pc:docChg chg="undo custSel modSld modMainMaster">
      <pc:chgData name="Narasimha Reddy" userId="7e058d64e6014b68" providerId="LiveId" clId="{07076267-ECF5-4050-A115-688950085FDA}" dt="2026-10-16T05:43:20.214" v="140" actId="20577"/>
      <pc:docMkLst>
        <pc:docMk/>
      </pc:docMkLst>
      <pc:sldChg chg="addSp delSp modSp mod">
        <pc:chgData name="Narasimha Reddy" userId="7e058d64e6014b68" providerId="LiveId" clId="{07076267-ECF5-4050-A115-688950085FDA}" dt="2026-10-16T03:05:38.120" v="129" actId="1076"/>
        <pc:sldMkLst>
          <pc:docMk/>
          <pc:sldMk cId="0" sldId="256"/>
        </pc:sldMkLst>
        <pc:spChg chg="mod">
          <ac:chgData name="Narasimha Reddy" userId="7e058d64e6014b68" providerId="LiveId" clId="{07076267-ECF5-4050-A115-688950085FDA}" dt="2026-10-16T02:57:22.493" v="62" actId="1076"/>
          <ac:spMkLst>
            <pc:docMk/>
            <pc:sldMk cId="0" sldId="256"/>
            <ac:spMk id="2" creationId="{00000000-0000-0000-0000-000000000000}"/>
          </ac:spMkLst>
        </pc:spChg>
        <pc:spChg chg="mod">
          <ac:chgData name="Narasimha Reddy" userId="7e058d64e6014b68" providerId="LiveId" clId="{07076267-ECF5-4050-A115-688950085FDA}" dt="2026-10-16T03:05:26.211" v="126" actId="1076"/>
          <ac:spMkLst>
            <pc:docMk/>
            <pc:sldMk cId="0" sldId="256"/>
            <ac:spMk id="4" creationId="{00000000-0000-0000-0000-000000000000}"/>
          </ac:spMkLst>
        </pc:spChg>
        <pc:spChg chg="mod">
          <ac:chgData name="Narasimha Reddy" userId="7e058d64e6014b68" providerId="LiveId" clId="{07076267-ECF5-4050-A115-688950085FDA}" dt="2026-10-16T03:04:51.469" v="124" actId="1076"/>
          <ac:spMkLst>
            <pc:docMk/>
            <pc:sldMk cId="0" sldId="256"/>
            <ac:spMk id="6" creationId="{00000000-0000-0000-0000-000000000000}"/>
          </ac:spMkLst>
        </pc:spChg>
        <pc:spChg chg="del mod">
          <ac:chgData name="Narasimha Reddy" userId="7e058d64e6014b68" providerId="LiveId" clId="{07076267-ECF5-4050-A115-688950085FDA}" dt="2026-10-16T02:58:05.261" v="70" actId="478"/>
          <ac:spMkLst>
            <pc:docMk/>
            <pc:sldMk cId="0" sldId="256"/>
            <ac:spMk id="7" creationId="{00000000-0000-0000-0000-000000000000}"/>
          </ac:spMkLst>
        </pc:spChg>
        <pc:spChg chg="add mod">
          <ac:chgData name="Narasimha Reddy" userId="7e058d64e6014b68" providerId="LiveId" clId="{07076267-ECF5-4050-A115-688950085FDA}" dt="2026-10-16T03:05:38.120" v="129" actId="1076"/>
          <ac:spMkLst>
            <pc:docMk/>
            <pc:sldMk cId="0" sldId="256"/>
            <ac:spMk id="20" creationId="{8EE25D55-DEEF-DB95-6C8C-F4795FA73ECC}"/>
          </ac:spMkLst>
        </pc:spChg>
        <pc:picChg chg="mod">
          <ac:chgData name="Narasimha Reddy" userId="7e058d64e6014b68" providerId="LiveId" clId="{07076267-ECF5-4050-A115-688950085FDA}" dt="2026-10-16T03:05:06.451" v="125" actId="14100"/>
          <ac:picMkLst>
            <pc:docMk/>
            <pc:sldMk cId="0" sldId="256"/>
            <ac:picMk id="5" creationId="{00000000-0000-0000-0000-000000000000}"/>
          </ac:picMkLst>
        </pc:picChg>
        <pc:picChg chg="add mod modCrop">
          <ac:chgData name="Narasimha Reddy" userId="7e058d64e6014b68" providerId="LiveId" clId="{07076267-ECF5-4050-A115-688950085FDA}" dt="2026-10-16T03:05:33.559" v="128" actId="1076"/>
          <ac:picMkLst>
            <pc:docMk/>
            <pc:sldMk cId="0" sldId="256"/>
            <ac:picMk id="22" creationId="{69B92C2F-8D13-C181-452F-1BEE01228B7A}"/>
          </ac:picMkLst>
        </pc:picChg>
        <pc:picChg chg="add del mod">
          <ac:chgData name="Narasimha Reddy" userId="7e058d64e6014b68" providerId="LiveId" clId="{07076267-ECF5-4050-A115-688950085FDA}" dt="2026-10-16T03:01:14.785" v="75" actId="478"/>
          <ac:picMkLst>
            <pc:docMk/>
            <pc:sldMk cId="0" sldId="256"/>
            <ac:picMk id="24" creationId="{0A2A714F-B66D-F0CE-815F-42210651DA8E}"/>
          </ac:picMkLst>
        </pc:picChg>
        <pc:picChg chg="add del mod">
          <ac:chgData name="Narasimha Reddy" userId="7e058d64e6014b68" providerId="LiveId" clId="{07076267-ECF5-4050-A115-688950085FDA}" dt="2026-10-16T03:02:47.415" v="81" actId="478"/>
          <ac:picMkLst>
            <pc:docMk/>
            <pc:sldMk cId="0" sldId="256"/>
            <ac:picMk id="26" creationId="{5BF69A85-DD80-48E2-0B7D-B1D19F836209}"/>
          </ac:picMkLst>
        </pc:picChg>
        <pc:picChg chg="add mod">
          <ac:chgData name="Narasimha Reddy" userId="7e058d64e6014b68" providerId="LiveId" clId="{07076267-ECF5-4050-A115-688950085FDA}" dt="2026-10-16T03:05:29.066" v="127" actId="1076"/>
          <ac:picMkLst>
            <pc:docMk/>
            <pc:sldMk cId="0" sldId="256"/>
            <ac:picMk id="28" creationId="{25732960-4C8D-B8CD-CEF3-EBA6B3DF9BF3}"/>
          </ac:picMkLst>
        </pc:picChg>
      </pc:sldChg>
      <pc:sldChg chg="modSp mod">
        <pc:chgData name="Narasimha Reddy" userId="7e058d64e6014b68" providerId="LiveId" clId="{07076267-ECF5-4050-A115-688950085FDA}" dt="2026-10-16T03:56:09.895" v="137" actId="20577"/>
        <pc:sldMkLst>
          <pc:docMk/>
          <pc:sldMk cId="0" sldId="257"/>
        </pc:sldMkLst>
        <pc:spChg chg="mod">
          <ac:chgData name="Narasimha Reddy" userId="7e058d64e6014b68" providerId="LiveId" clId="{07076267-ECF5-4050-A115-688950085FDA}" dt="2026-10-16T03:34:59.366" v="131" actId="14100"/>
          <ac:spMkLst>
            <pc:docMk/>
            <pc:sldMk cId="0" sldId="257"/>
            <ac:spMk id="4" creationId="{00000000-0000-0000-0000-000000000000}"/>
          </ac:spMkLst>
        </pc:spChg>
        <pc:spChg chg="mod">
          <ac:chgData name="Narasimha Reddy" userId="7e058d64e6014b68" providerId="LiveId" clId="{07076267-ECF5-4050-A115-688950085FDA}" dt="2026-10-16T03:56:09.895" v="137" actId="20577"/>
          <ac:spMkLst>
            <pc:docMk/>
            <pc:sldMk cId="0" sldId="257"/>
            <ac:spMk id="5" creationId="{00000000-0000-0000-0000-000000000000}"/>
          </ac:spMkLst>
        </pc:spChg>
      </pc:sldChg>
      <pc:sldChg chg="addSp delSp modSp mod modNotesTx">
        <pc:chgData name="Narasimha Reddy" userId="7e058d64e6014b68" providerId="LiveId" clId="{07076267-ECF5-4050-A115-688950085FDA}" dt="2026-10-16T05:43:20.214" v="140" actId="20577"/>
        <pc:sldMkLst>
          <pc:docMk/>
          <pc:sldMk cId="0" sldId="260"/>
        </pc:sldMkLst>
        <pc:graphicFrameChg chg="add del mod">
          <ac:chgData name="Narasimha Reddy" userId="7e058d64e6014b68" providerId="LiveId" clId="{07076267-ECF5-4050-A115-688950085FDA}" dt="2026-10-16T05:40:53.754" v="139" actId="478"/>
          <ac:graphicFrameMkLst>
            <pc:docMk/>
            <pc:sldMk cId="0" sldId="260"/>
            <ac:graphicFrameMk id="10" creationId="{42E3B3A4-D9D1-21C4-48CF-373B132D7B8B}"/>
          </ac:graphicFrameMkLst>
        </pc:graphicFrameChg>
      </pc:sldChg>
      <pc:sldChg chg="addSp delSp modSp mod">
        <pc:chgData name="Narasimha Reddy" userId="7e058d64e6014b68" providerId="LiveId" clId="{07076267-ECF5-4050-A115-688950085FDA}" dt="2026-10-16T02:56:23.608" v="59"/>
        <pc:sldMkLst>
          <pc:docMk/>
          <pc:sldMk cId="0" sldId="265"/>
        </pc:sldMkLst>
        <pc:spChg chg="add del mod">
          <ac:chgData name="Narasimha Reddy" userId="7e058d64e6014b68" providerId="LiveId" clId="{07076267-ECF5-4050-A115-688950085FDA}" dt="2026-10-16T02:56:23.608" v="59"/>
          <ac:spMkLst>
            <pc:docMk/>
            <pc:sldMk cId="0" sldId="265"/>
            <ac:spMk id="10" creationId="{50557059-F537-9AF3-AA5A-8693FE29CF2A}"/>
          </ac:spMkLst>
        </pc:spChg>
      </pc:sldChg>
      <pc:sldChg chg="addSp delSp modSp mod">
        <pc:chgData name="Narasimha Reddy" userId="7e058d64e6014b68" providerId="LiveId" clId="{07076267-ECF5-4050-A115-688950085FDA}" dt="2026-10-16T02:56:21.162" v="56"/>
        <pc:sldMkLst>
          <pc:docMk/>
          <pc:sldMk cId="0" sldId="266"/>
        </pc:sldMkLst>
        <pc:spChg chg="add del mod">
          <ac:chgData name="Narasimha Reddy" userId="7e058d64e6014b68" providerId="LiveId" clId="{07076267-ECF5-4050-A115-688950085FDA}" dt="2026-10-16T02:56:21.162" v="56"/>
          <ac:spMkLst>
            <pc:docMk/>
            <pc:sldMk cId="0" sldId="266"/>
            <ac:spMk id="21" creationId="{5E65898D-2076-8850-0CEC-49AA5019E79B}"/>
          </ac:spMkLst>
        </pc:spChg>
      </pc:sldChg>
      <pc:sldChg chg="modSp mod">
        <pc:chgData name="Narasimha Reddy" userId="7e058d64e6014b68" providerId="LiveId" clId="{07076267-ECF5-4050-A115-688950085FDA}" dt="2026-10-16T02:48:22.686" v="29" actId="1076"/>
        <pc:sldMkLst>
          <pc:docMk/>
          <pc:sldMk cId="0" sldId="270"/>
        </pc:sldMkLst>
        <pc:spChg chg="mod">
          <ac:chgData name="Narasimha Reddy" userId="7e058d64e6014b68" providerId="LiveId" clId="{07076267-ECF5-4050-A115-688950085FDA}" dt="2026-10-16T02:48:22.686" v="29" actId="1076"/>
          <ac:spMkLst>
            <pc:docMk/>
            <pc:sldMk cId="0" sldId="270"/>
            <ac:spMk id="9" creationId="{00000000-0000-0000-0000-000000000000}"/>
          </ac:spMkLst>
        </pc:spChg>
      </pc:sldChg>
      <pc:sldMasterChg chg="modSldLayout">
        <pc:chgData name="Narasimha Reddy" userId="7e058d64e6014b68" providerId="LiveId" clId="{07076267-ECF5-4050-A115-688950085FDA}" dt="2026-10-16T02:56:44.129" v="61" actId="20577"/>
        <pc:sldMasterMkLst>
          <pc:docMk/>
          <pc:sldMasterMk cId="0" sldId="2147483648"/>
        </pc:sldMasterMkLst>
        <pc:sldLayoutChg chg="addSp delSp modSp mod">
          <pc:chgData name="Narasimha Reddy" userId="7e058d64e6014b68" providerId="LiveId" clId="{07076267-ECF5-4050-A115-688950085FDA}" dt="2026-10-16T02:49:33.973" v="49" actId="1076"/>
          <pc:sldLayoutMkLst>
            <pc:docMk/>
            <pc:sldMasterMk cId="0" sldId="2147483648"/>
            <pc:sldLayoutMk cId="0" sldId="2147483651"/>
          </pc:sldLayoutMkLst>
          <pc:spChg chg="mod">
            <ac:chgData name="Narasimha Reddy" userId="7e058d64e6014b68" providerId="LiveId" clId="{07076267-ECF5-4050-A115-688950085FDA}" dt="2026-10-16T02:49:16.298" v="42" actId="20577"/>
            <ac:spMkLst>
              <pc:docMk/>
              <pc:sldMasterMk cId="0" sldId="2147483648"/>
              <pc:sldLayoutMk cId="0" sldId="2147483651"/>
              <ac:spMk id="3" creationId="{00000000-0000-0000-0000-000000000000}"/>
            </ac:spMkLst>
          </pc:spChg>
          <pc:spChg chg="mod">
            <ac:chgData name="Narasimha Reddy" userId="7e058d64e6014b68" providerId="LiveId" clId="{07076267-ECF5-4050-A115-688950085FDA}" dt="2026-10-16T02:49:06.806" v="31" actId="20577"/>
            <ac:spMkLst>
              <pc:docMk/>
              <pc:sldMasterMk cId="0" sldId="2147483648"/>
              <pc:sldLayoutMk cId="0" sldId="2147483651"/>
              <ac:spMk id="4" creationId="{00000000-0000-0000-0000-000000000000}"/>
            </ac:spMkLst>
          </pc:spChg>
          <pc:spChg chg="add del mod">
            <ac:chgData name="Narasimha Reddy" userId="7e058d64e6014b68" providerId="LiveId" clId="{07076267-ECF5-4050-A115-688950085FDA}" dt="2026-10-16T02:49:18.117" v="44"/>
            <ac:spMkLst>
              <pc:docMk/>
              <pc:sldMasterMk cId="0" sldId="2147483648"/>
              <pc:sldLayoutMk cId="0" sldId="2147483651"/>
              <ac:spMk id="5" creationId="{2EBE950F-3262-FD63-4E89-38AECCC9A6BA}"/>
            </ac:spMkLst>
          </pc:spChg>
          <pc:picChg chg="mod">
            <ac:chgData name="Narasimha Reddy" userId="7e058d64e6014b68" providerId="LiveId" clId="{07076267-ECF5-4050-A115-688950085FDA}" dt="2026-10-16T02:49:33.973" v="49" actId="1076"/>
            <ac:picMkLst>
              <pc:docMk/>
              <pc:sldMasterMk cId="0" sldId="2147483648"/>
              <pc:sldLayoutMk cId="0" sldId="2147483651"/>
              <ac:picMk id="30" creationId="{00000000-0000-0000-0000-000000000000}"/>
            </ac:picMkLst>
          </pc:picChg>
        </pc:sldLayoutChg>
        <pc:sldLayoutChg chg="modSp mod">
          <pc:chgData name="Narasimha Reddy" userId="7e058d64e6014b68" providerId="LiveId" clId="{07076267-ECF5-4050-A115-688950085FDA}" dt="2026-10-16T02:56:44.129" v="61" actId="20577"/>
          <pc:sldLayoutMkLst>
            <pc:docMk/>
            <pc:sldMasterMk cId="0" sldId="2147483648"/>
            <pc:sldLayoutMk cId="0" sldId="2147483652"/>
          </pc:sldLayoutMkLst>
          <pc:spChg chg="mod">
            <ac:chgData name="Narasimha Reddy" userId="7e058d64e6014b68" providerId="LiveId" clId="{07076267-ECF5-4050-A115-688950085FDA}" dt="2026-10-16T02:56:44.129" v="61" actId="20577"/>
            <ac:spMkLst>
              <pc:docMk/>
              <pc:sldMasterMk cId="0" sldId="2147483648"/>
              <pc:sldLayoutMk cId="0" sldId="2147483652"/>
              <ac:spMk id="5"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448A54-4E88-1E06-11F7-33B6FB9F4B84}"/>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9255EF4-C288-339F-156F-2745264B382C}"/>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E35433D2-17CC-4C23-AB33-362159B2B2CA}" type="datetimeFigureOut">
              <a:rPr lang="en-IN" smtClean="0"/>
              <a:t>16-10-2026</a:t>
            </a:fld>
            <a:endParaRPr lang="en-IN" dirty="0"/>
          </a:p>
        </p:txBody>
      </p:sp>
      <p:sp>
        <p:nvSpPr>
          <p:cNvPr id="4" name="Footer Placeholder 3">
            <a:extLst>
              <a:ext uri="{FF2B5EF4-FFF2-40B4-BE49-F238E27FC236}">
                <a16:creationId xmlns:a16="http://schemas.microsoft.com/office/drawing/2014/main" id="{F7FD8D3E-F77E-F789-0DA8-03C92E2DAB6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FF1A2A0-D0FE-8927-2374-50FDE9661E9F}"/>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DB37BB02-3D2E-47C2-9FD2-C5EBF9E9B8CF}" type="slidenum">
              <a:rPr lang="en-IN" smtClean="0"/>
              <a:t>‹#›</a:t>
            </a:fld>
            <a:endParaRPr lang="en-IN"/>
          </a:p>
        </p:txBody>
      </p:sp>
    </p:spTree>
    <p:extLst>
      <p:ext uri="{BB962C8B-B14F-4D97-AF65-F5344CB8AC3E}">
        <p14:creationId xmlns:p14="http://schemas.microsoft.com/office/powerpoint/2010/main" val="9365653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83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Good morning, everyone.</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CO1 explains the basic concepts of Java used in our project. We use data types like int to store transaction IDs and double to store transaction amounts. We use variables to maintain the account balance, operators to calculate deposits and withdrawals, and Scanner to accept user input. We use </a:t>
            </a:r>
            <a:r>
              <a:rPr lang="en-US" sz="1200" kern="1200" dirty="0" err="1">
                <a:solidFill>
                  <a:schemeClr val="tx1"/>
                </a:solidFill>
                <a:effectLst/>
                <a:latin typeface="+mn-lt"/>
                <a:ea typeface="+mn-ea"/>
                <a:cs typeface="+mn-cs"/>
              </a:rPr>
              <a:t>System.out.printf</a:t>
            </a:r>
            <a:r>
              <a:rPr lang="en-US" sz="1200" kern="1200" dirty="0">
                <a:solidFill>
                  <a:schemeClr val="tx1"/>
                </a:solidFill>
                <a:effectLst/>
                <a:latin typeface="+mn-lt"/>
                <a:ea typeface="+mn-ea"/>
                <a:cs typeface="+mn-cs"/>
              </a:rPr>
              <a:t>() to display the output neatly.</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concepts help us build the basic structure of our banking application.</a:t>
            </a: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dirty="0"/>
              <a:t>if-else: Checks sufficient balance before withdrawal.</a:t>
            </a:r>
          </a:p>
          <a:p>
            <a:pPr lvl="0"/>
            <a:r>
              <a:rPr lang="en-IN" dirty="0"/>
              <a:t>switch-case: Selects operations from the menu.</a:t>
            </a:r>
          </a:p>
          <a:p>
            <a:pPr lvl="0"/>
            <a:r>
              <a:rPr lang="en-IN" dirty="0"/>
              <a:t>Loops (</a:t>
            </a:r>
            <a:r>
              <a:rPr lang="en-IN" sz="1200" kern="1200" dirty="0">
                <a:solidFill>
                  <a:schemeClr val="tx1"/>
                </a:solidFill>
                <a:latin typeface="+mn-lt"/>
                <a:ea typeface="+mn-ea"/>
                <a:cs typeface="+mn-cs"/>
              </a:rPr>
              <a:t>while</a:t>
            </a:r>
            <a:r>
              <a:rPr lang="en-IN" dirty="0"/>
              <a:t>, </a:t>
            </a:r>
            <a:r>
              <a:rPr lang="en-IN" sz="1200" kern="1200" dirty="0">
                <a:solidFill>
                  <a:schemeClr val="tx1"/>
                </a:solidFill>
                <a:latin typeface="+mn-lt"/>
                <a:ea typeface="+mn-ea"/>
                <a:cs typeface="+mn-cs"/>
              </a:rPr>
              <a:t>do-while</a:t>
            </a:r>
            <a:r>
              <a:rPr lang="en-IN" dirty="0"/>
              <a:t>): Repeat the menu and validate user input.</a:t>
            </a:r>
          </a:p>
          <a:p>
            <a:pPr lvl="0"/>
            <a:r>
              <a:rPr lang="en-IN" dirty="0"/>
              <a:t>Enhanced for loop: Displays transaction history.</a:t>
            </a:r>
          </a:p>
          <a:p>
            <a:pPr lvl="0"/>
            <a:r>
              <a:rPr lang="en-IN" dirty="0"/>
              <a:t>Input validation: Rejects invalid amounts and menu choices.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our project, methods help us perform separate tasks, such as depositing money, withdrawing money, and searching for transactions. Method overloading allows us to use the same method name with different parameters. Recursion means a method calls itself, and our project uses recursion for transaction searching.</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concepts make our program more organized and easier to maintain.</a:t>
            </a: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dirty="0"/>
              <a:t>Classes and objects: </a:t>
            </a:r>
            <a:r>
              <a:rPr lang="en-IN" sz="1200" kern="1200" dirty="0" err="1">
                <a:solidFill>
                  <a:schemeClr val="tx1"/>
                </a:solidFill>
                <a:latin typeface="+mn-lt"/>
                <a:ea typeface="+mn-ea"/>
                <a:cs typeface="+mn-cs"/>
              </a:rPr>
              <a:t>BankAccount</a:t>
            </a:r>
            <a:r>
              <a:rPr lang="en-IN" dirty="0"/>
              <a:t> and </a:t>
            </a:r>
            <a:r>
              <a:rPr lang="en-IN" sz="1200" kern="1200" dirty="0">
                <a:solidFill>
                  <a:schemeClr val="tx1"/>
                </a:solidFill>
                <a:latin typeface="+mn-lt"/>
                <a:ea typeface="+mn-ea"/>
                <a:cs typeface="+mn-cs"/>
              </a:rPr>
              <a:t>Transaction</a:t>
            </a:r>
            <a:r>
              <a:rPr lang="en-IN" dirty="0"/>
              <a:t> organize account data.</a:t>
            </a:r>
          </a:p>
          <a:p>
            <a:pPr lvl="0"/>
            <a:r>
              <a:rPr lang="en-IN" dirty="0"/>
              <a:t>Constructors: Initialize account and transaction objects.</a:t>
            </a:r>
          </a:p>
          <a:p>
            <a:pPr lvl="0"/>
            <a:r>
              <a:rPr lang="en-IN" dirty="0"/>
              <a:t>Encapsulation: Private fields protect data.</a:t>
            </a:r>
          </a:p>
          <a:p>
            <a:pPr lvl="0"/>
            <a:r>
              <a:rPr lang="en-IN" dirty="0"/>
              <a:t>Inheritance of </a:t>
            </a:r>
            <a:r>
              <a:rPr lang="en-IN" dirty="0" err="1"/>
              <a:t>behavior</a:t>
            </a:r>
            <a:r>
              <a:rPr lang="en-IN" dirty="0"/>
              <a:t> through interfaces: </a:t>
            </a:r>
            <a:r>
              <a:rPr lang="en-IN" sz="1200" kern="1200" dirty="0" err="1">
                <a:solidFill>
                  <a:schemeClr val="tx1"/>
                </a:solidFill>
                <a:latin typeface="+mn-lt"/>
                <a:ea typeface="+mn-ea"/>
                <a:cs typeface="+mn-cs"/>
              </a:rPr>
              <a:t>BankAccount</a:t>
            </a:r>
            <a:r>
              <a:rPr lang="en-IN" dirty="0"/>
              <a:t> implements </a:t>
            </a:r>
            <a:r>
              <a:rPr lang="en-IN" sz="1200" kern="1200" dirty="0">
                <a:solidFill>
                  <a:schemeClr val="tx1"/>
                </a:solidFill>
                <a:latin typeface="+mn-lt"/>
                <a:ea typeface="+mn-ea"/>
                <a:cs typeface="+mn-cs"/>
              </a:rPr>
              <a:t>Reportable</a:t>
            </a:r>
            <a:r>
              <a:rPr lang="en-IN" dirty="0"/>
              <a:t>.</a:t>
            </a:r>
          </a:p>
          <a:p>
            <a:pPr lvl="0"/>
            <a:r>
              <a:rPr lang="en-IN" dirty="0"/>
              <a:t>Method overriding: Implements </a:t>
            </a:r>
            <a:r>
              <a:rPr lang="en-IN" sz="1200" kern="1200" dirty="0" err="1">
                <a:solidFill>
                  <a:schemeClr val="tx1"/>
                </a:solidFill>
                <a:latin typeface="+mn-lt"/>
                <a:ea typeface="+mn-ea"/>
                <a:cs typeface="+mn-cs"/>
              </a:rPr>
              <a:t>toString</a:t>
            </a:r>
            <a:r>
              <a:rPr lang="en-IN" sz="1200" kern="1200" dirty="0">
                <a:solidFill>
                  <a:schemeClr val="tx1"/>
                </a:solidFill>
                <a:latin typeface="+mn-lt"/>
                <a:ea typeface="+mn-ea"/>
                <a:cs typeface="+mn-cs"/>
              </a:rPr>
              <a:t>()</a:t>
            </a:r>
            <a:r>
              <a:rPr lang="en-IN" dirty="0"/>
              <a:t>, </a:t>
            </a:r>
            <a:r>
              <a:rPr lang="en-IN" sz="1200" kern="1200" dirty="0" err="1">
                <a:solidFill>
                  <a:schemeClr val="tx1"/>
                </a:solidFill>
                <a:latin typeface="+mn-lt"/>
                <a:ea typeface="+mn-ea"/>
                <a:cs typeface="+mn-cs"/>
              </a:rPr>
              <a:t>compareTo</a:t>
            </a:r>
            <a:r>
              <a:rPr lang="en-IN" sz="1200" kern="1200" dirty="0">
                <a:solidFill>
                  <a:schemeClr val="tx1"/>
                </a:solidFill>
                <a:latin typeface="+mn-lt"/>
                <a:ea typeface="+mn-ea"/>
                <a:cs typeface="+mn-cs"/>
              </a:rPr>
              <a:t>()</a:t>
            </a:r>
            <a:r>
              <a:rPr lang="en-IN" dirty="0"/>
              <a:t>, and </a:t>
            </a:r>
            <a:r>
              <a:rPr lang="en-IN" sz="1200" kern="1200" dirty="0" err="1">
                <a:solidFill>
                  <a:schemeClr val="tx1"/>
                </a:solidFill>
                <a:latin typeface="+mn-lt"/>
                <a:ea typeface="+mn-ea"/>
                <a:cs typeface="+mn-cs"/>
              </a:rPr>
              <a:t>generateStatement</a:t>
            </a:r>
            <a:r>
              <a:rPr lang="en-IN" sz="1200" kern="1200" dirty="0">
                <a:solidFill>
                  <a:schemeClr val="tx1"/>
                </a:solidFill>
                <a:latin typeface="+mn-lt"/>
                <a:ea typeface="+mn-ea"/>
                <a:cs typeface="+mn-cs"/>
              </a:rPr>
              <a:t>()</a:t>
            </a:r>
            <a:r>
              <a:rPr lang="en-IN" dirty="0"/>
              <a:t>.</a:t>
            </a:r>
          </a:p>
          <a:p>
            <a:pPr lvl="0"/>
            <a:r>
              <a:rPr lang="en-IN" dirty="0"/>
              <a:t>Exception handling: Handles invalid input and file errors.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dirty="0"/>
              <a:t>String methods: </a:t>
            </a:r>
            <a:r>
              <a:rPr lang="en-IN" sz="1200" kern="1200" dirty="0">
                <a:solidFill>
                  <a:schemeClr val="tx1"/>
                </a:solidFill>
                <a:latin typeface="+mn-lt"/>
                <a:ea typeface="+mn-ea"/>
                <a:cs typeface="+mn-cs"/>
              </a:rPr>
              <a:t>trim()</a:t>
            </a:r>
            <a:r>
              <a:rPr lang="en-IN" dirty="0"/>
              <a:t> and </a:t>
            </a:r>
            <a:r>
              <a:rPr lang="en-IN" sz="1200" kern="1200" dirty="0" err="1">
                <a:solidFill>
                  <a:schemeClr val="tx1"/>
                </a:solidFill>
                <a:latin typeface="+mn-lt"/>
                <a:ea typeface="+mn-ea"/>
                <a:cs typeface="+mn-cs"/>
              </a:rPr>
              <a:t>isEmpty</a:t>
            </a:r>
            <a:r>
              <a:rPr lang="en-IN" sz="1200" kern="1200" dirty="0">
                <a:solidFill>
                  <a:schemeClr val="tx1"/>
                </a:solidFill>
                <a:latin typeface="+mn-lt"/>
                <a:ea typeface="+mn-ea"/>
                <a:cs typeface="+mn-cs"/>
              </a:rPr>
              <a:t>()</a:t>
            </a:r>
            <a:r>
              <a:rPr lang="en-IN" dirty="0"/>
              <a:t> validate text input.</a:t>
            </a:r>
          </a:p>
          <a:p>
            <a:pPr lvl="0"/>
            <a:r>
              <a:rPr lang="en-IN" dirty="0"/>
              <a:t>StringBuilder: Builds the formatted statement.</a:t>
            </a:r>
          </a:p>
          <a:p>
            <a:pPr lvl="0"/>
            <a:r>
              <a:rPr lang="en-IN" dirty="0"/>
              <a:t>Comparable and Comparator: Sort transactions by ID or amount.</a:t>
            </a:r>
          </a:p>
          <a:p>
            <a:pPr lvl="0"/>
            <a:r>
              <a:rPr lang="en-IN" dirty="0" err="1"/>
              <a:t>Collections.sort</a:t>
            </a:r>
            <a:r>
              <a:rPr lang="en-IN" dirty="0"/>
              <a:t>(): Sorts transaction records.</a:t>
            </a:r>
          </a:p>
          <a:p>
            <a:pPr lvl="0"/>
            <a:r>
              <a:rPr lang="en-IN" dirty="0"/>
              <a:t>File handling: </a:t>
            </a:r>
            <a:r>
              <a:rPr lang="en-IN" sz="1200" kern="1200" dirty="0" err="1">
                <a:solidFill>
                  <a:schemeClr val="tx1"/>
                </a:solidFill>
                <a:latin typeface="+mn-lt"/>
                <a:ea typeface="+mn-ea"/>
                <a:cs typeface="+mn-cs"/>
              </a:rPr>
              <a:t>Files.writeString</a:t>
            </a:r>
            <a:r>
              <a:rPr lang="en-IN" sz="1200" kern="1200" dirty="0">
                <a:solidFill>
                  <a:schemeClr val="tx1"/>
                </a:solidFill>
                <a:latin typeface="+mn-lt"/>
                <a:ea typeface="+mn-ea"/>
                <a:cs typeface="+mn-cs"/>
              </a:rPr>
              <a:t>()</a:t>
            </a:r>
            <a:r>
              <a:rPr lang="en-IN" dirty="0"/>
              <a:t> saves the statement to </a:t>
            </a:r>
            <a:r>
              <a:rPr lang="en-IN" sz="1200" kern="1200" dirty="0">
                <a:solidFill>
                  <a:schemeClr val="tx1"/>
                </a:solidFill>
                <a:latin typeface="+mn-lt"/>
                <a:ea typeface="+mn-ea"/>
                <a:cs typeface="+mn-cs"/>
              </a:rPr>
              <a:t>ledger_statement.txt</a:t>
            </a:r>
            <a:r>
              <a:rPr lang="en-IN" dirty="0"/>
              <a:t>.</a:t>
            </a:r>
          </a:p>
          <a:p>
            <a:pPr lvl="0"/>
            <a:r>
              <a:rPr lang="en-IN" dirty="0"/>
              <a:t>Date and time: </a:t>
            </a:r>
            <a:r>
              <a:rPr lang="en-IN" sz="1200" kern="1200" dirty="0" err="1">
                <a:solidFill>
                  <a:schemeClr val="tx1"/>
                </a:solidFill>
                <a:latin typeface="+mn-lt"/>
                <a:ea typeface="+mn-ea"/>
                <a:cs typeface="+mn-cs"/>
              </a:rPr>
              <a:t>LocalDateTime</a:t>
            </a:r>
            <a:r>
              <a:rPr lang="en-IN" dirty="0"/>
              <a:t> records transaction timestamps.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CO6 focuses on collections and streams in Java.</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our project, </a:t>
            </a:r>
            <a:r>
              <a:rPr lang="en-US" sz="1200" kern="1200" dirty="0" err="1">
                <a:solidFill>
                  <a:schemeClr val="tx1"/>
                </a:solidFill>
                <a:effectLst/>
                <a:latin typeface="+mn-lt"/>
                <a:ea typeface="+mn-ea"/>
                <a:cs typeface="+mn-cs"/>
              </a:rPr>
              <a:t>ArrayList</a:t>
            </a:r>
            <a:r>
              <a:rPr lang="en-US" sz="1200" kern="1200" dirty="0">
                <a:solidFill>
                  <a:schemeClr val="tx1"/>
                </a:solidFill>
                <a:effectLst/>
                <a:latin typeface="+mn-lt"/>
                <a:ea typeface="+mn-ea"/>
                <a:cs typeface="+mn-cs"/>
              </a:rPr>
              <a:t> is used to maintain transaction records. HashSet can store unique values, while HashMap and </a:t>
            </a:r>
            <a:r>
              <a:rPr lang="en-US" sz="1200" kern="1200" dirty="0" err="1">
                <a:solidFill>
                  <a:schemeClr val="tx1"/>
                </a:solidFill>
                <a:effectLst/>
                <a:latin typeface="+mn-lt"/>
                <a:ea typeface="+mn-ea"/>
                <a:cs typeface="+mn-cs"/>
              </a:rPr>
              <a:t>TreeMap</a:t>
            </a:r>
            <a:r>
              <a:rPr lang="en-US" sz="1200" kern="1200" dirty="0">
                <a:solidFill>
                  <a:schemeClr val="tx1"/>
                </a:solidFill>
                <a:effectLst/>
                <a:latin typeface="+mn-lt"/>
                <a:ea typeface="+mn-ea"/>
                <a:cs typeface="+mn-cs"/>
              </a:rPr>
              <a:t> help organize data using keys. Streams help us filter transactions, sort records, count transactions, and calculate the total deposit or withdrawal amount.</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concepts help us manage transaction data efficiently and generate useful bank statements.</a:t>
            </a: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F2F7F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400800" cy="201168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LOSING">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48640"/>
            <a:ext cx="9692640" cy="822960"/>
          </a:xfrm>
          <a:prstGeom prst="rect">
            <a:avLst/>
          </a:prstGeom>
          <a:noFill/>
          <a:ln/>
        </p:spPr>
        <p:txBody>
          <a:bodyPr wrap="square" rtlCol="0"/>
          <a:lstStyle>
            <a:lvl1pPr marL="0" indent="0" algn="l">
              <a:buNone/>
              <a:defRPr lang="en-US" sz="36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600" dirty="0"/>
          </a:p>
        </p:txBody>
      </p:sp>
      <p:sp>
        <p:nvSpPr>
          <p:cNvPr id="3" name="Text 0"/>
          <p:cNvSpPr/>
          <p:nvPr/>
        </p:nvSpPr>
        <p:spPr>
          <a:xfrm>
            <a:off x="640080" y="6400800"/>
            <a:ext cx="6400800" cy="274320"/>
          </a:xfrm>
          <a:prstGeom prst="rect">
            <a:avLst/>
          </a:prstGeom>
          <a:noFill/>
          <a:ln/>
        </p:spPr>
        <p:txBody>
          <a:bodyPr wrap="square" lIns="0" tIns="0" rIns="0" bIns="0" rtlCol="0" anchor="ctr"/>
          <a:lstStyle/>
          <a:p>
            <a:pPr marL="0" indent="0">
              <a:buNone/>
            </a:pPr>
            <a:r>
              <a:rPr lang="en-US" sz="1100" dirty="0">
                <a:solidFill>
                  <a:srgbClr val="5B6B82"/>
                </a:solidFill>
              </a:rPr>
              <a:t>Personal Bank Ledger &amp; Statement Generator  </a:t>
            </a:r>
            <a:endParaRPr lang="en-US" sz="1100" dirty="0"/>
          </a:p>
        </p:txBody>
      </p:sp>
      <p:sp>
        <p:nvSpPr>
          <p:cNvPr id="4" name="Text 1"/>
          <p:cNvSpPr/>
          <p:nvPr/>
        </p:nvSpPr>
        <p:spPr>
          <a:xfrm>
            <a:off x="8778240" y="6400800"/>
            <a:ext cx="2011680" cy="274320"/>
          </a:xfrm>
          <a:prstGeom prst="rect">
            <a:avLst/>
          </a:prstGeom>
          <a:noFill/>
          <a:ln/>
        </p:spPr>
        <p:txBody>
          <a:bodyPr wrap="square" lIns="0" tIns="0" rIns="0" bIns="0" rtlCol="0" anchor="ctr"/>
          <a:lstStyle/>
          <a:p>
            <a:pPr marL="0" indent="0" algn="r">
              <a:buNone/>
            </a:pPr>
            <a:r>
              <a:rPr lang="en-US" sz="1100" dirty="0">
                <a:solidFill>
                  <a:srgbClr val="5B6B82"/>
                </a:solidFill>
              </a:rPr>
              <a:t>16-10-2026</a:t>
            </a:r>
            <a:endParaRPr lang="en-US" sz="11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82"/>
                </a:solidFill>
              </a:defRPr>
            </a:lvl1pPr>
          </a:lstStyle>
          <a:p>
            <a:pPr algn="r"/>
            <a:fld id="{F7021451-1387-4CA6-816F-3879F97B5CBC}" type="slidenum">
              <a:rPr lang="en-US" b="0"/>
              <a:t>‹#›</a:t>
            </a:fld>
            <a:endParaRPr lang="en-US"/>
          </a:p>
        </p:txBody>
      </p:sp>
      <p:pic>
        <p:nvPicPr>
          <p:cNvPr id="30" name="KLH Logo" descr="KL University logo"/>
          <p:cNvPicPr>
            <a:picLocks noChangeAspect="1"/>
          </p:cNvPicPr>
          <p:nvPr/>
        </p:nvPicPr>
        <p:blipFill>
          <a:blip r:embed="rId2"/>
          <a:stretch>
            <a:fillRect/>
          </a:stretch>
        </p:blipFill>
        <p:spPr>
          <a:xfrm>
            <a:off x="10446327" y="54864"/>
            <a:ext cx="1524000" cy="98755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48640"/>
            <a:ext cx="9692640" cy="822960"/>
          </a:xfrm>
          <a:prstGeom prst="rect">
            <a:avLst/>
          </a:prstGeom>
          <a:noFill/>
          <a:ln/>
        </p:spPr>
        <p:txBody>
          <a:bodyPr wrap="square" rtlCol="0"/>
          <a:lstStyle>
            <a:lvl1pPr marL="0" indent="0" algn="l">
              <a:buNone/>
              <a:defRPr lang="en-US" sz="36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600" dirty="0"/>
          </a:p>
        </p:txBody>
      </p:sp>
      <p:pic>
        <p:nvPicPr>
          <p:cNvPr id="3" name="Image 0" descr="/tmp/claude-0/-home-claude/902bde1f-d057-5171-93ee-48b3528eec0e/scratchpad/in/x/ppt/media/image1.png"/>
          <p:cNvPicPr>
            <a:picLocks noChangeAspect="1"/>
          </p:cNvPicPr>
          <p:nvPr/>
        </p:nvPicPr>
        <p:blipFill>
          <a:blip r:embed="rId2"/>
          <a:stretch>
            <a:fillRect/>
          </a:stretch>
        </p:blipFill>
        <p:spPr>
          <a:xfrm>
            <a:off x="10744200" y="384048"/>
            <a:ext cx="822960" cy="611693"/>
          </a:xfrm>
          <a:prstGeom prst="rect">
            <a:avLst/>
          </a:prstGeom>
        </p:spPr>
      </p:pic>
      <p:sp>
        <p:nvSpPr>
          <p:cNvPr id="4" name="Text 0"/>
          <p:cNvSpPr/>
          <p:nvPr/>
        </p:nvSpPr>
        <p:spPr>
          <a:xfrm>
            <a:off x="640080" y="6400800"/>
            <a:ext cx="6400800" cy="274320"/>
          </a:xfrm>
          <a:prstGeom prst="rect">
            <a:avLst/>
          </a:prstGeom>
          <a:noFill/>
          <a:ln/>
        </p:spPr>
        <p:txBody>
          <a:bodyPr wrap="square" lIns="0" tIns="0" rIns="0" bIns="0" rtlCol="0" anchor="ctr"/>
          <a:lstStyle/>
          <a:p>
            <a:pPr marL="0" indent="0">
              <a:buNone/>
            </a:pPr>
            <a:r>
              <a:rPr lang="en-US" sz="1100" dirty="0">
                <a:solidFill>
                  <a:schemeClr val="accent5"/>
                </a:solidFill>
              </a:rPr>
              <a:t>Personal Bank Ledger &amp; Statement Generator  |  Team 10</a:t>
            </a:r>
            <a:endParaRPr lang="en-US" sz="1100" dirty="0"/>
          </a:p>
        </p:txBody>
      </p:sp>
      <p:sp>
        <p:nvSpPr>
          <p:cNvPr id="5" name="Text 1"/>
          <p:cNvSpPr/>
          <p:nvPr/>
        </p:nvSpPr>
        <p:spPr>
          <a:xfrm>
            <a:off x="8778240" y="6400800"/>
            <a:ext cx="2011680" cy="274320"/>
          </a:xfrm>
          <a:prstGeom prst="rect">
            <a:avLst/>
          </a:prstGeom>
          <a:noFill/>
          <a:ln/>
        </p:spPr>
        <p:txBody>
          <a:bodyPr wrap="square" lIns="0" tIns="0" rIns="0" bIns="0" rtlCol="0" anchor="ctr"/>
          <a:lstStyle/>
          <a:p>
            <a:pPr marL="0" indent="0" algn="r">
              <a:buNone/>
            </a:pPr>
            <a:r>
              <a:rPr lang="en-US" sz="1100" dirty="0">
                <a:solidFill>
                  <a:schemeClr val="accent5"/>
                </a:solidFill>
              </a:rPr>
              <a:t>16-10-2026</a:t>
            </a:r>
            <a:endParaRPr lang="en-US" sz="11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9FB0C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jpg"/><Relationship Id="rId7" Type="http://schemas.openxmlformats.org/officeDocument/2006/relationships/hyperlink" Target="https://github.com/ratala-saikumar"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github.com/reddy68n" TargetMode="External"/><Relationship Id="rId5" Type="http://schemas.openxmlformats.org/officeDocument/2006/relationships/hyperlink" Target="https://github.com/reddy68n/PERSONAL-BANKING-LEDGER-STATEMENT-GENERATOR.git" TargetMode="Externa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1"/>
          <p:cNvSpPr/>
          <p:nvPr/>
        </p:nvSpPr>
        <p:spPr>
          <a:xfrm>
            <a:off x="8686800" y="-2022513"/>
            <a:ext cx="5120640" cy="5120640"/>
          </a:xfrm>
          <a:prstGeom prst="ellipse">
            <a:avLst/>
          </a:prstGeom>
          <a:solidFill>
            <a:srgbClr val="DCEAF7"/>
          </a:solidFill>
          <a:ln>
            <a:noFill/>
          </a:ln>
        </p:spPr>
        <p:txBody>
          <a:bodyPr rtlCol="0" anchor="ctr"/>
          <a:lstStyle/>
          <a:p>
            <a:endParaRPr lang="en-US"/>
          </a:p>
        </p:txBody>
      </p:sp>
      <p:sp>
        <p:nvSpPr>
          <p:cNvPr id="3" name="Decor 2"/>
          <p:cNvSpPr/>
          <p:nvPr/>
        </p:nvSpPr>
        <p:spPr>
          <a:xfrm>
            <a:off x="-1463040" y="5120640"/>
            <a:ext cx="3291840" cy="3291840"/>
          </a:xfrm>
          <a:prstGeom prst="ellipse">
            <a:avLst/>
          </a:prstGeom>
          <a:solidFill>
            <a:srgbClr val="E3F5EE"/>
          </a:solidFill>
          <a:ln>
            <a:noFill/>
          </a:ln>
        </p:spPr>
        <p:txBody>
          <a:bodyPr rtlCol="0" anchor="ctr"/>
          <a:lstStyle/>
          <a:p>
            <a:endParaRPr lang="en-US"/>
          </a:p>
        </p:txBody>
      </p:sp>
      <p:sp>
        <p:nvSpPr>
          <p:cNvPr id="4" name="Logo Panel"/>
          <p:cNvSpPr/>
          <p:nvPr/>
        </p:nvSpPr>
        <p:spPr>
          <a:xfrm>
            <a:off x="7178040" y="1417320"/>
            <a:ext cx="4160520" cy="5303520"/>
          </a:xfrm>
          <a:prstGeom prst="roundRect">
            <a:avLst>
              <a:gd name="adj" fmla="val 5000"/>
            </a:avLst>
          </a:prstGeom>
          <a:solidFill>
            <a:srgbClr val="FFFFFF"/>
          </a:solidFill>
          <a:ln w="12700">
            <a:solidFill>
              <a:srgbClr val="D5DEEA"/>
            </a:solidFill>
          </a:ln>
          <a:effectLst>
            <a:outerShdw blurRad="228600" dist="50800" dir="5400000" algn="t" rotWithShape="0">
              <a:srgbClr val="1F3A5F">
                <a:alpha val="16000"/>
              </a:srgbClr>
            </a:outerShdw>
          </a:effectLst>
        </p:spPr>
        <p:txBody>
          <a:bodyPr rtlCol="0" anchor="ctr"/>
          <a:lstStyle/>
          <a:p>
            <a:endParaRPr lang="en-US" dirty="0"/>
          </a:p>
        </p:txBody>
      </p:sp>
      <p:pic>
        <p:nvPicPr>
          <p:cNvPr id="5" name="KLH Logo" descr="KL University logo"/>
          <p:cNvPicPr>
            <a:picLocks noChangeAspect="1"/>
          </p:cNvPicPr>
          <p:nvPr/>
        </p:nvPicPr>
        <p:blipFill>
          <a:blip r:embed="rId3"/>
          <a:stretch>
            <a:fillRect/>
          </a:stretch>
        </p:blipFill>
        <p:spPr>
          <a:xfrm>
            <a:off x="8503920" y="-625033"/>
            <a:ext cx="2856926" cy="2123506"/>
          </a:xfrm>
          <a:prstGeom prst="rect">
            <a:avLst/>
          </a:prstGeom>
        </p:spPr>
      </p:pic>
      <p:sp>
        <p:nvSpPr>
          <p:cNvPr id="6" name="KLH Name"/>
          <p:cNvSpPr txBox="1"/>
          <p:nvPr/>
        </p:nvSpPr>
        <p:spPr>
          <a:xfrm>
            <a:off x="7349490" y="4149141"/>
            <a:ext cx="3611880" cy="822960"/>
          </a:xfrm>
          <a:prstGeom prst="rect">
            <a:avLst/>
          </a:prstGeom>
          <a:noFill/>
        </p:spPr>
        <p:txBody>
          <a:bodyPr wrap="square" lIns="0" tIns="0" rIns="0" bIns="0" rtlCol="0" anchor="t"/>
          <a:lstStyle/>
          <a:p>
            <a:pPr algn="ctr"/>
            <a:r>
              <a:rPr lang="en-US" sz="1600" b="1" dirty="0">
                <a:solidFill>
                  <a:srgbClr val="0B1F3A"/>
                </a:solidFill>
                <a:latin typeface="Cambria"/>
                <a:ea typeface="Cambria"/>
                <a:cs typeface="Cambria"/>
              </a:rPr>
              <a:t>Personal Bank Ledger and Statement Generator using JAVA programming</a:t>
            </a:r>
            <a:endParaRPr lang="en-US" sz="1600" b="1" spc="100" dirty="0">
              <a:solidFill>
                <a:srgbClr val="0B1F3A"/>
              </a:solidFill>
              <a:latin typeface="Cambria"/>
              <a:ea typeface="Cambria"/>
              <a:cs typeface="Cambria"/>
            </a:endParaRPr>
          </a:p>
        </p:txBody>
      </p:sp>
      <p:sp>
        <p:nvSpPr>
          <p:cNvPr id="8" name="Kicker"/>
          <p:cNvSpPr txBox="1"/>
          <p:nvPr/>
        </p:nvSpPr>
        <p:spPr>
          <a:xfrm>
            <a:off x="731520" y="868680"/>
            <a:ext cx="6217920" cy="320040"/>
          </a:xfrm>
          <a:prstGeom prst="rect">
            <a:avLst/>
          </a:prstGeom>
          <a:noFill/>
        </p:spPr>
        <p:txBody>
          <a:bodyPr wrap="square" lIns="0" tIns="0" rIns="0" bIns="0" rtlCol="0" anchor="ctr"/>
          <a:lstStyle/>
          <a:p>
            <a:pPr marL="0" indent="0" algn="l">
              <a:buNone/>
            </a:pPr>
            <a:r>
              <a:rPr lang="en-US" sz="1400" b="1" spc="400" dirty="0">
                <a:solidFill>
                  <a:srgbClr val="0E7C86"/>
                </a:solidFill>
              </a:rPr>
              <a:t>PROJECT PRESENTATION</a:t>
            </a:r>
          </a:p>
        </p:txBody>
      </p:sp>
      <p:sp>
        <p:nvSpPr>
          <p:cNvPr id="9" name="Title"/>
          <p:cNvSpPr>
            <a:spLocks noGrp="1"/>
          </p:cNvSpPr>
          <p:nvPr>
            <p:ph type="title" idx="100" hasCustomPrompt="1"/>
          </p:nvPr>
        </p:nvSpPr>
        <p:spPr>
          <a:xfrm>
            <a:off x="731520" y="1325880"/>
            <a:ext cx="6309360" cy="1828800"/>
          </a:xfrm>
          <a:prstGeom prst="rect">
            <a:avLst/>
          </a:prstGeom>
          <a:noFill/>
        </p:spPr>
        <p:txBody>
          <a:bodyPr wrap="square" lIns="0" tIns="0" rIns="0" bIns="0" rtlCol="0" anchor="t"/>
          <a:lstStyle/>
          <a:p>
            <a:pPr marL="0" indent="0" algn="l">
              <a:buNone/>
            </a:pPr>
            <a:r>
              <a:rPr lang="en-US" sz="4400" b="1" dirty="0">
                <a:solidFill>
                  <a:srgbClr val="0B1F3A"/>
                </a:solidFill>
                <a:latin typeface="Cambria"/>
                <a:ea typeface="Cambria"/>
                <a:cs typeface="Cambria"/>
              </a:rPr>
              <a:t>Personal Bank Ledger and Statement Generator</a:t>
            </a:r>
          </a:p>
        </p:txBody>
      </p:sp>
      <p:sp>
        <p:nvSpPr>
          <p:cNvPr id="10" name="Subtitle"/>
          <p:cNvSpPr txBox="1"/>
          <p:nvPr/>
        </p:nvSpPr>
        <p:spPr>
          <a:xfrm>
            <a:off x="731520" y="3246120"/>
            <a:ext cx="5852160" cy="731520"/>
          </a:xfrm>
          <a:prstGeom prst="rect">
            <a:avLst/>
          </a:prstGeom>
          <a:noFill/>
        </p:spPr>
        <p:txBody>
          <a:bodyPr wrap="square" lIns="0" tIns="0" rIns="0" bIns="0" rtlCol="0" anchor="t"/>
          <a:lstStyle/>
          <a:p>
            <a:pPr marL="0" indent="0" algn="l">
              <a:buNone/>
            </a:pPr>
            <a:r>
              <a:rPr lang="en-US" sz="1600" dirty="0">
                <a:solidFill>
                  <a:srgbClr val="5B6B82"/>
                </a:solidFill>
              </a:rPr>
              <a:t>A Java-based application to record transactions, track balances and generate bank statements</a:t>
            </a:r>
          </a:p>
        </p:txBody>
      </p:sp>
      <p:sp>
        <p:nvSpPr>
          <p:cNvPr id="11" name="Guide Card"/>
          <p:cNvSpPr/>
          <p:nvPr/>
        </p:nvSpPr>
        <p:spPr>
          <a:xfrm>
            <a:off x="731520" y="4069080"/>
            <a:ext cx="6217920" cy="731520"/>
          </a:xfrm>
          <a:prstGeom prst="roundRect">
            <a:avLst>
              <a:gd name="adj" fmla="val 14000"/>
            </a:avLst>
          </a:prstGeom>
          <a:solidFill>
            <a:srgbClr val="FFFFFF"/>
          </a:solidFill>
          <a:ln w="12700">
            <a:solidFill>
              <a:srgbClr val="D5DEEA"/>
            </a:solidFill>
          </a:ln>
          <a:effectLst>
            <a:outerShdw blurRad="228600" dist="50800" dir="5400000" algn="t" rotWithShape="0">
              <a:srgbClr val="1F3A5F">
                <a:alpha val="16000"/>
              </a:srgbClr>
            </a:outerShdw>
          </a:effectLst>
        </p:spPr>
        <p:txBody>
          <a:bodyPr rtlCol="0" anchor="ctr"/>
          <a:lstStyle/>
          <a:p>
            <a:endParaRPr lang="en-US"/>
          </a:p>
        </p:txBody>
      </p:sp>
      <p:sp>
        <p:nvSpPr>
          <p:cNvPr id="12" name="Guide Label"/>
          <p:cNvSpPr txBox="1"/>
          <p:nvPr/>
        </p:nvSpPr>
        <p:spPr>
          <a:xfrm>
            <a:off x="1005840" y="4069080"/>
            <a:ext cx="1828800" cy="731520"/>
          </a:xfrm>
          <a:prstGeom prst="rect">
            <a:avLst/>
          </a:prstGeom>
          <a:noFill/>
        </p:spPr>
        <p:txBody>
          <a:bodyPr wrap="square" lIns="0" tIns="0" rIns="0" bIns="0" rtlCol="0" anchor="ctr"/>
          <a:lstStyle/>
          <a:p>
            <a:pPr marL="0" indent="0" algn="l">
              <a:buNone/>
            </a:pPr>
            <a:r>
              <a:rPr lang="en-US" sz="1200" b="1" spc="200" dirty="0">
                <a:solidFill>
                  <a:srgbClr val="0E7C86"/>
                </a:solidFill>
              </a:rPr>
              <a:t>GUIDED BY</a:t>
            </a:r>
          </a:p>
        </p:txBody>
      </p:sp>
      <p:sp>
        <p:nvSpPr>
          <p:cNvPr id="13" name="Guide Name"/>
          <p:cNvSpPr txBox="1"/>
          <p:nvPr/>
        </p:nvSpPr>
        <p:spPr>
          <a:xfrm>
            <a:off x="2651760" y="4069080"/>
            <a:ext cx="4114800" cy="731520"/>
          </a:xfrm>
          <a:prstGeom prst="rect">
            <a:avLst/>
          </a:prstGeom>
          <a:noFill/>
        </p:spPr>
        <p:txBody>
          <a:bodyPr wrap="square" lIns="0" tIns="0" rIns="0" bIns="0" rtlCol="0" anchor="ctr"/>
          <a:lstStyle/>
          <a:p>
            <a:pPr marL="0" indent="0" algn="l">
              <a:buNone/>
            </a:pPr>
            <a:r>
              <a:rPr lang="en-US" sz="2000" b="1" dirty="0">
                <a:solidFill>
                  <a:srgbClr val="0B1F3A"/>
                </a:solidFill>
                <a:latin typeface="Cambria"/>
                <a:ea typeface="Cambria"/>
                <a:cs typeface="Cambria"/>
              </a:rPr>
              <a:t>Pavithra Mam</a:t>
            </a:r>
          </a:p>
        </p:txBody>
      </p:sp>
      <p:sp>
        <p:nvSpPr>
          <p:cNvPr id="14" name="Team Pill"/>
          <p:cNvSpPr/>
          <p:nvPr/>
        </p:nvSpPr>
        <p:spPr>
          <a:xfrm>
            <a:off x="731520" y="5029200"/>
            <a:ext cx="1371600" cy="310896"/>
          </a:xfrm>
          <a:prstGeom prst="roundRect">
            <a:avLst>
              <a:gd name="adj" fmla="val 50000"/>
            </a:avLst>
          </a:prstGeom>
          <a:solidFill>
            <a:srgbClr val="1FA37A"/>
          </a:solidFill>
          <a:ln>
            <a:noFill/>
          </a:ln>
        </p:spPr>
        <p:txBody>
          <a:bodyPr rtlCol="0" anchor="ctr"/>
          <a:lstStyle/>
          <a:p>
            <a:endParaRPr lang="en-US"/>
          </a:p>
        </p:txBody>
      </p:sp>
      <p:sp>
        <p:nvSpPr>
          <p:cNvPr id="15" name="Team Text"/>
          <p:cNvSpPr txBox="1"/>
          <p:nvPr/>
        </p:nvSpPr>
        <p:spPr>
          <a:xfrm>
            <a:off x="731520" y="5029200"/>
            <a:ext cx="1371600" cy="310896"/>
          </a:xfrm>
          <a:prstGeom prst="rect">
            <a:avLst/>
          </a:prstGeom>
          <a:noFill/>
        </p:spPr>
        <p:txBody>
          <a:bodyPr wrap="square" lIns="0" tIns="0" rIns="0" bIns="0" rtlCol="0" anchor="ctr"/>
          <a:lstStyle/>
          <a:p>
            <a:pPr marL="0" indent="0" algn="ctr">
              <a:buNone/>
            </a:pPr>
            <a:r>
              <a:rPr lang="en-US" sz="1200" b="1" dirty="0">
                <a:solidFill>
                  <a:srgbClr val="FFFFFF"/>
                </a:solidFill>
              </a:rPr>
              <a:t>TEAM NO : 10</a:t>
            </a:r>
          </a:p>
        </p:txBody>
      </p:sp>
      <p:sp>
        <p:nvSpPr>
          <p:cNvPr id="16" name="Member Card"/>
          <p:cNvSpPr/>
          <p:nvPr/>
        </p:nvSpPr>
        <p:spPr>
          <a:xfrm>
            <a:off x="731520" y="5440680"/>
            <a:ext cx="3017520" cy="777240"/>
          </a:xfrm>
          <a:prstGeom prst="roundRect">
            <a:avLst>
              <a:gd name="adj" fmla="val 12000"/>
            </a:avLst>
          </a:prstGeom>
          <a:solidFill>
            <a:srgbClr val="FFFFFF"/>
          </a:solidFill>
          <a:ln w="12700">
            <a:solidFill>
              <a:srgbClr val="D5DEEA"/>
            </a:solidFill>
          </a:ln>
          <a:effectLst>
            <a:outerShdw blurRad="228600" dist="50800" dir="5400000" algn="t" rotWithShape="0">
              <a:srgbClr val="1F3A5F">
                <a:alpha val="16000"/>
              </a:srgbClr>
            </a:outerShdw>
          </a:effectLst>
        </p:spPr>
        <p:txBody>
          <a:bodyPr rtlCol="0" anchor="ctr"/>
          <a:lstStyle/>
          <a:p>
            <a:endParaRPr lang="en-US"/>
          </a:p>
        </p:txBody>
      </p:sp>
      <p:sp>
        <p:nvSpPr>
          <p:cNvPr id="17" name="Member"/>
          <p:cNvSpPr txBox="1"/>
          <p:nvPr/>
        </p:nvSpPr>
        <p:spPr>
          <a:xfrm>
            <a:off x="960120" y="5440680"/>
            <a:ext cx="2651760" cy="777240"/>
          </a:xfrm>
          <a:prstGeom prst="rect">
            <a:avLst/>
          </a:prstGeom>
          <a:noFill/>
        </p:spPr>
        <p:txBody>
          <a:bodyPr wrap="square" lIns="0" tIns="0" rIns="0" bIns="0" rtlCol="0" anchor="ctr"/>
          <a:lstStyle/>
          <a:p>
            <a:pPr marL="0" indent="0" algn="l">
              <a:buNone/>
            </a:pPr>
            <a:r>
              <a:rPr lang="en-US" sz="1600" b="1" dirty="0">
                <a:solidFill>
                  <a:srgbClr val="0B1F3A"/>
                </a:solidFill>
              </a:rPr>
              <a:t>R. Sai Kumar</a:t>
            </a:r>
          </a:p>
          <a:p>
            <a:pPr marL="0" indent="0" algn="l">
              <a:buNone/>
            </a:pPr>
            <a:r>
              <a:rPr lang="en-US" sz="1200" dirty="0">
                <a:solidFill>
                  <a:srgbClr val="5B6B82"/>
                </a:solidFill>
              </a:rPr>
              <a:t>Roll No : 2620090005</a:t>
            </a:r>
          </a:p>
        </p:txBody>
      </p:sp>
      <p:sp>
        <p:nvSpPr>
          <p:cNvPr id="18" name="Member Card"/>
          <p:cNvSpPr/>
          <p:nvPr/>
        </p:nvSpPr>
        <p:spPr>
          <a:xfrm>
            <a:off x="3931920" y="5440680"/>
            <a:ext cx="3017520" cy="777240"/>
          </a:xfrm>
          <a:prstGeom prst="roundRect">
            <a:avLst>
              <a:gd name="adj" fmla="val 12000"/>
            </a:avLst>
          </a:prstGeom>
          <a:solidFill>
            <a:srgbClr val="FFFFFF"/>
          </a:solidFill>
          <a:ln w="12700">
            <a:solidFill>
              <a:srgbClr val="D5DEEA"/>
            </a:solidFill>
          </a:ln>
          <a:effectLst>
            <a:outerShdw blurRad="228600" dist="50800" dir="5400000" algn="t" rotWithShape="0">
              <a:srgbClr val="1F3A5F">
                <a:alpha val="16000"/>
              </a:srgbClr>
            </a:outerShdw>
          </a:effectLst>
        </p:spPr>
        <p:txBody>
          <a:bodyPr rtlCol="0" anchor="ctr"/>
          <a:lstStyle/>
          <a:p>
            <a:endParaRPr lang="en-US"/>
          </a:p>
        </p:txBody>
      </p:sp>
      <p:sp>
        <p:nvSpPr>
          <p:cNvPr id="19" name="Member"/>
          <p:cNvSpPr txBox="1"/>
          <p:nvPr/>
        </p:nvSpPr>
        <p:spPr>
          <a:xfrm>
            <a:off x="4160520" y="5440680"/>
            <a:ext cx="2651760" cy="777240"/>
          </a:xfrm>
          <a:prstGeom prst="rect">
            <a:avLst/>
          </a:prstGeom>
          <a:noFill/>
        </p:spPr>
        <p:txBody>
          <a:bodyPr wrap="square" lIns="0" tIns="0" rIns="0" bIns="0" rtlCol="0" anchor="ctr"/>
          <a:lstStyle/>
          <a:p>
            <a:pPr marL="0" indent="0" algn="l">
              <a:buNone/>
            </a:pPr>
            <a:r>
              <a:rPr lang="en-US" sz="1600" b="1" dirty="0">
                <a:solidFill>
                  <a:srgbClr val="0B1F3A"/>
                </a:solidFill>
              </a:rPr>
              <a:t>S. Narasimha Reddy</a:t>
            </a:r>
          </a:p>
          <a:p>
            <a:pPr marL="0" indent="0" algn="l">
              <a:buNone/>
            </a:pPr>
            <a:r>
              <a:rPr lang="en-US" sz="1200" dirty="0">
                <a:solidFill>
                  <a:srgbClr val="5B6B82"/>
                </a:solidFill>
              </a:rPr>
              <a:t>Roll No : 2620040086</a:t>
            </a:r>
          </a:p>
        </p:txBody>
      </p:sp>
      <p:sp>
        <p:nvSpPr>
          <p:cNvPr id="20" name="Rectangle 19">
            <a:extLst>
              <a:ext uri="{FF2B5EF4-FFF2-40B4-BE49-F238E27FC236}">
                <a16:creationId xmlns:a16="http://schemas.microsoft.com/office/drawing/2014/main" id="{8EE25D55-DEEF-DB95-6C8C-F4795FA73ECC}"/>
              </a:ext>
            </a:extLst>
          </p:cNvPr>
          <p:cNvSpPr/>
          <p:nvPr/>
        </p:nvSpPr>
        <p:spPr>
          <a:xfrm>
            <a:off x="8629795" y="1191409"/>
            <a:ext cx="2720340" cy="320040"/>
          </a:xfrm>
          <a:prstGeom prst="rect">
            <a:avLst/>
          </a:prstGeom>
          <a:ln>
            <a:solidFill>
              <a:schemeClr val="bg1"/>
            </a:solidFill>
          </a:ln>
        </p:spPr>
        <p:style>
          <a:lnRef idx="2">
            <a:schemeClr val="accent1">
              <a:shade val="15000"/>
            </a:schemeClr>
          </a:lnRef>
          <a:fillRef idx="1002">
            <a:schemeClr val="lt2"/>
          </a:fillRef>
          <a:effectRef idx="0">
            <a:schemeClr val="accent1"/>
          </a:effectRef>
          <a:fontRef idx="minor">
            <a:schemeClr val="lt1"/>
          </a:fontRef>
        </p:style>
        <p:txBody>
          <a:bodyPr rtlCol="0" anchor="ctr"/>
          <a:lstStyle/>
          <a:p>
            <a:pPr algn="ctr"/>
            <a:r>
              <a:rPr lang="en-US" sz="2000" dirty="0">
                <a:solidFill>
                  <a:srgbClr val="FF3399"/>
                </a:solidFill>
              </a:rPr>
              <a:t>BACHUPALLY CAMPUS</a:t>
            </a:r>
            <a:endParaRPr lang="en-IN" sz="2000" dirty="0">
              <a:solidFill>
                <a:srgbClr val="FF3399"/>
              </a:solidFill>
            </a:endParaRPr>
          </a:p>
        </p:txBody>
      </p:sp>
      <p:pic>
        <p:nvPicPr>
          <p:cNvPr id="22" name="Picture 21">
            <a:extLst>
              <a:ext uri="{FF2B5EF4-FFF2-40B4-BE49-F238E27FC236}">
                <a16:creationId xmlns:a16="http://schemas.microsoft.com/office/drawing/2014/main" id="{69B92C2F-8D13-C181-452F-1BEE01228B7A}"/>
              </a:ext>
            </a:extLst>
          </p:cNvPr>
          <p:cNvPicPr>
            <a:picLocks noChangeAspect="1"/>
          </p:cNvPicPr>
          <p:nvPr/>
        </p:nvPicPr>
        <p:blipFill>
          <a:blip r:embed="rId4"/>
          <a:srcRect l="15445" t="16300" r="13889" b="10644"/>
          <a:stretch>
            <a:fillRect/>
          </a:stretch>
        </p:blipFill>
        <p:spPr>
          <a:xfrm>
            <a:off x="7589520" y="1618114"/>
            <a:ext cx="2423160" cy="2505076"/>
          </a:xfrm>
          <a:prstGeom prst="rect">
            <a:avLst/>
          </a:prstGeom>
        </p:spPr>
      </p:pic>
      <p:pic>
        <p:nvPicPr>
          <p:cNvPr id="28" name="Picture 27">
            <a:extLst>
              <a:ext uri="{FF2B5EF4-FFF2-40B4-BE49-F238E27FC236}">
                <a16:creationId xmlns:a16="http://schemas.microsoft.com/office/drawing/2014/main" id="{25732960-4C8D-B8CD-CEF3-EBA6B3DF9BF3}"/>
              </a:ext>
            </a:extLst>
          </p:cNvPr>
          <p:cNvPicPr>
            <a:picLocks noChangeAspect="1"/>
          </p:cNvPicPr>
          <p:nvPr/>
        </p:nvPicPr>
        <p:blipFill>
          <a:blip r:embed="rId5"/>
          <a:stretch>
            <a:fillRect/>
          </a:stretch>
        </p:blipFill>
        <p:spPr>
          <a:xfrm>
            <a:off x="9488699" y="4563243"/>
            <a:ext cx="2021311" cy="20213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OVERVIEW</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Abstract</a:t>
            </a:r>
            <a:endParaRPr lang="en-US" sz="3600" dirty="0"/>
          </a:p>
        </p:txBody>
      </p:sp>
      <p:sp>
        <p:nvSpPr>
          <p:cNvPr id="4" name="AbstractCard"/>
          <p:cNvSpPr/>
          <p:nvPr/>
        </p:nvSpPr>
        <p:spPr>
          <a:xfrm>
            <a:off x="531845" y="1240971"/>
            <a:ext cx="6417595" cy="4885509"/>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Text 3"/>
          <p:cNvSpPr txBox="1"/>
          <p:nvPr/>
        </p:nvSpPr>
        <p:spPr>
          <a:xfrm>
            <a:off x="857484" y="1627632"/>
            <a:ext cx="5669280" cy="4069080"/>
          </a:xfrm>
          <a:prstGeom prst="rect">
            <a:avLst/>
          </a:prstGeom>
          <a:noFill/>
          <a:ln/>
        </p:spPr>
        <p:txBody>
          <a:bodyPr wrap="square" lIns="0" tIns="0" rIns="0" bIns="0" rtlCol="0" anchor="ctr"/>
          <a:lstStyle/>
          <a:p>
            <a:r>
              <a:rPr lang="en-US" dirty="0"/>
              <a:t>The </a:t>
            </a:r>
            <a:r>
              <a:rPr lang="en-US" b="1" dirty="0"/>
              <a:t>Personal Bank Ledger and Statement Generator </a:t>
            </a:r>
            <a:r>
              <a:rPr lang="en-US" dirty="0"/>
              <a:t>is a Java-based application designed to maintain and generate a simple personal banking record. The system allows users to enter account details, opening balance, and multiple financial transactions. For each transaction, the user can specify the </a:t>
            </a:r>
            <a:r>
              <a:rPr lang="en-US" dirty="0" err="1"/>
              <a:t>date,</a:t>
            </a:r>
            <a:r>
              <a:rPr lang="en-US" b="1" dirty="0" err="1"/>
              <a:t>description</a:t>
            </a:r>
            <a:r>
              <a:rPr lang="en-US" b="1" dirty="0"/>
              <a:t>, payment type, transaction type, and amo</a:t>
            </a:r>
            <a:r>
              <a:rPr lang="en-US" dirty="0"/>
              <a:t>unt. The program automatically calculates the updated account balance, total deposits, and total withdrawals while preventing withdrawals that exceed the available balance. Finally, it generates a formatted bank statement displaying all transaction details and the closing balance. </a:t>
            </a:r>
          </a:p>
          <a:p>
            <a:r>
              <a:rPr lang="en-US" dirty="0"/>
              <a:t>On developing this program, it helps the user to </a:t>
            </a:r>
            <a:r>
              <a:rPr lang="en-US" b="1" dirty="0"/>
              <a:t>avoid paper work</a:t>
            </a:r>
            <a:r>
              <a:rPr lang="en-US" dirty="0"/>
              <a:t>, it </a:t>
            </a:r>
            <a:r>
              <a:rPr lang="en-US" b="1" dirty="0"/>
              <a:t>saves lot of time </a:t>
            </a:r>
            <a:r>
              <a:rPr lang="en-US" dirty="0"/>
              <a:t>for user, it </a:t>
            </a:r>
            <a:r>
              <a:rPr lang="en-US" b="1" dirty="0"/>
              <a:t>minimizes wrong entries</a:t>
            </a:r>
            <a:r>
              <a:rPr lang="en-US" dirty="0"/>
              <a:t>. It also provides an organized and reliable method for maintaining records and generating useful reports. </a:t>
            </a:r>
            <a:endParaRPr lang="en-IN" dirty="0"/>
          </a:p>
        </p:txBody>
      </p:sp>
      <p:sp>
        <p:nvSpPr>
          <p:cNvPr id="6" name="BenefitCard"/>
          <p:cNvSpPr/>
          <p:nvPr/>
        </p:nvSpPr>
        <p:spPr>
          <a:xfrm>
            <a:off x="7315200" y="1600200"/>
            <a:ext cx="4233672" cy="1417320"/>
          </a:xfrm>
          <a:prstGeom prst="roundRect">
            <a:avLst>
              <a:gd name="adj" fmla="val 7742"/>
            </a:avLst>
          </a:prstGeom>
          <a:solidFill>
            <a:srgbClr val="FFFFFF"/>
          </a:solidFill>
          <a:ln w="12700">
            <a:solidFill>
              <a:srgbClr val="FFFFFF"/>
            </a:solidFill>
            <a:prstDash val="solid"/>
          </a:ln>
          <a:effectLst>
            <a:outerShdw blurRad="127000" dist="38100" dir="5400000" algn="bl" rotWithShape="0">
              <a:srgbClr val="0B1F3A">
                <a:alpha val="14000"/>
              </a:srgbClr>
            </a:outerShdw>
          </a:effectLst>
        </p:spPr>
      </p:sp>
      <p:sp>
        <p:nvSpPr>
          <p:cNvPr id="7" name="IconCircle"/>
          <p:cNvSpPr/>
          <p:nvPr/>
        </p:nvSpPr>
        <p:spPr>
          <a:xfrm>
            <a:off x="7589520" y="1947672"/>
            <a:ext cx="731520" cy="731520"/>
          </a:xfrm>
          <a:prstGeom prst="ellipse">
            <a:avLst/>
          </a:prstGeom>
          <a:solidFill>
            <a:srgbClr val="1FA37A"/>
          </a:solidFill>
          <a:ln w="12700">
            <a:solidFill>
              <a:srgbClr val="1FA37A"/>
            </a:solidFill>
            <a:prstDash val="solid"/>
          </a:ln>
        </p:spPr>
      </p:sp>
      <p:pic>
        <p:nvPicPr>
          <p:cNvPr id="8" name="Image 0" descr="icon"/>
          <p:cNvPicPr>
            <a:picLocks noChangeAspect="1"/>
          </p:cNvPicPr>
          <p:nvPr/>
        </p:nvPicPr>
        <p:blipFill>
          <a:blip r:embed="rId3"/>
          <a:stretch>
            <a:fillRect/>
          </a:stretch>
        </p:blipFill>
        <p:spPr>
          <a:xfrm>
            <a:off x="7787030" y="2145182"/>
            <a:ext cx="336499" cy="336499"/>
          </a:xfrm>
          <a:prstGeom prst="rect">
            <a:avLst/>
          </a:prstGeom>
        </p:spPr>
      </p:pic>
      <p:sp>
        <p:nvSpPr>
          <p:cNvPr id="9" name="Text 6"/>
          <p:cNvSpPr txBox="1"/>
          <p:nvPr/>
        </p:nvSpPr>
        <p:spPr>
          <a:xfrm>
            <a:off x="8503920" y="1737360"/>
            <a:ext cx="2926080" cy="1143000"/>
          </a:xfrm>
          <a:prstGeom prst="rect">
            <a:avLst/>
          </a:prstGeom>
          <a:noFill/>
          <a:ln/>
        </p:spPr>
        <p:txBody>
          <a:bodyPr wrap="square" lIns="0" tIns="0" rIns="0" bIns="0" rtlCol="0" anchor="ctr"/>
          <a:lstStyle/>
          <a:p>
            <a:pPr marL="0" indent="0">
              <a:buNone/>
            </a:pPr>
            <a:r>
              <a:rPr lang="en-US" sz="1800" b="1" dirty="0">
                <a:solidFill>
                  <a:schemeClr val="tx1"/>
                </a:solidFill>
              </a:rPr>
              <a:t>Avoids paperwork</a:t>
            </a:r>
            <a:endParaRPr lang="en-US" sz="1800" dirty="0"/>
          </a:p>
          <a:p>
            <a:pPr marL="0" indent="0">
              <a:buNone/>
            </a:pPr>
            <a:r>
              <a:rPr lang="en-US" sz="1400" dirty="0">
                <a:solidFill>
                  <a:schemeClr val="accent5"/>
                </a:solidFill>
              </a:rPr>
              <a:t>Digital records replace manual ledgers</a:t>
            </a:r>
            <a:endParaRPr lang="en-US" sz="1800" dirty="0"/>
          </a:p>
        </p:txBody>
      </p:sp>
      <p:sp>
        <p:nvSpPr>
          <p:cNvPr id="10" name="BenefitCard"/>
          <p:cNvSpPr/>
          <p:nvPr/>
        </p:nvSpPr>
        <p:spPr>
          <a:xfrm>
            <a:off x="7315200" y="3154680"/>
            <a:ext cx="4233672" cy="1417320"/>
          </a:xfrm>
          <a:prstGeom prst="roundRect">
            <a:avLst>
              <a:gd name="adj" fmla="val 7742"/>
            </a:avLst>
          </a:prstGeom>
          <a:solidFill>
            <a:srgbClr val="FFFFFF"/>
          </a:solidFill>
          <a:ln w="12700">
            <a:solidFill>
              <a:srgbClr val="FFFFFF"/>
            </a:solidFill>
            <a:prstDash val="solid"/>
          </a:ln>
          <a:effectLst>
            <a:outerShdw blurRad="127000" dist="38100" dir="5400000" algn="bl" rotWithShape="0">
              <a:srgbClr val="0B1F3A">
                <a:alpha val="14000"/>
              </a:srgbClr>
            </a:outerShdw>
          </a:effectLst>
        </p:spPr>
      </p:sp>
      <p:sp>
        <p:nvSpPr>
          <p:cNvPr id="11" name="IconCircle"/>
          <p:cNvSpPr/>
          <p:nvPr/>
        </p:nvSpPr>
        <p:spPr>
          <a:xfrm>
            <a:off x="7589520" y="3502152"/>
            <a:ext cx="731520" cy="731520"/>
          </a:xfrm>
          <a:prstGeom prst="ellipse">
            <a:avLst/>
          </a:prstGeom>
          <a:solidFill>
            <a:srgbClr val="2F6FB3"/>
          </a:solidFill>
          <a:ln w="12700">
            <a:solidFill>
              <a:srgbClr val="2F6FB3"/>
            </a:solidFill>
            <a:prstDash val="solid"/>
          </a:ln>
        </p:spPr>
      </p:sp>
      <p:pic>
        <p:nvPicPr>
          <p:cNvPr id="12" name="Image 1" descr="icon"/>
          <p:cNvPicPr>
            <a:picLocks noChangeAspect="1"/>
          </p:cNvPicPr>
          <p:nvPr/>
        </p:nvPicPr>
        <p:blipFill>
          <a:blip r:embed="rId4"/>
          <a:stretch>
            <a:fillRect/>
          </a:stretch>
        </p:blipFill>
        <p:spPr>
          <a:xfrm>
            <a:off x="7787030" y="3699662"/>
            <a:ext cx="336499" cy="336499"/>
          </a:xfrm>
          <a:prstGeom prst="rect">
            <a:avLst/>
          </a:prstGeom>
        </p:spPr>
      </p:pic>
      <p:sp>
        <p:nvSpPr>
          <p:cNvPr id="13" name="Text 9"/>
          <p:cNvSpPr txBox="1"/>
          <p:nvPr/>
        </p:nvSpPr>
        <p:spPr>
          <a:xfrm>
            <a:off x="8503920" y="3291840"/>
            <a:ext cx="2926080" cy="1143000"/>
          </a:xfrm>
          <a:prstGeom prst="rect">
            <a:avLst/>
          </a:prstGeom>
          <a:noFill/>
          <a:ln/>
        </p:spPr>
        <p:txBody>
          <a:bodyPr wrap="square" lIns="0" tIns="0" rIns="0" bIns="0" rtlCol="0" anchor="ctr"/>
          <a:lstStyle/>
          <a:p>
            <a:pPr marL="0" indent="0">
              <a:buNone/>
            </a:pPr>
            <a:r>
              <a:rPr lang="en-US" sz="1800" b="1" dirty="0">
                <a:solidFill>
                  <a:schemeClr val="tx1"/>
                </a:solidFill>
              </a:rPr>
              <a:t>Saves time</a:t>
            </a:r>
            <a:endParaRPr lang="en-US" sz="1800" dirty="0"/>
          </a:p>
          <a:p>
            <a:pPr marL="0" indent="0">
              <a:buNone/>
            </a:pPr>
            <a:r>
              <a:rPr lang="en-US" sz="1400" dirty="0">
                <a:solidFill>
                  <a:schemeClr val="accent5"/>
                </a:solidFill>
              </a:rPr>
              <a:t>Balances and totals calculated instantly</a:t>
            </a:r>
            <a:endParaRPr lang="en-US" sz="1800" dirty="0"/>
          </a:p>
        </p:txBody>
      </p:sp>
      <p:sp>
        <p:nvSpPr>
          <p:cNvPr id="14" name="BenefitCard"/>
          <p:cNvSpPr/>
          <p:nvPr/>
        </p:nvSpPr>
        <p:spPr>
          <a:xfrm>
            <a:off x="7315200" y="4709160"/>
            <a:ext cx="4233672" cy="1417320"/>
          </a:xfrm>
          <a:prstGeom prst="roundRect">
            <a:avLst>
              <a:gd name="adj" fmla="val 7742"/>
            </a:avLst>
          </a:prstGeom>
          <a:solidFill>
            <a:srgbClr val="FFFFFF"/>
          </a:solidFill>
          <a:ln w="12700">
            <a:solidFill>
              <a:srgbClr val="FFFFFF"/>
            </a:solidFill>
            <a:prstDash val="solid"/>
          </a:ln>
          <a:effectLst>
            <a:outerShdw blurRad="127000" dist="38100" dir="5400000" algn="bl" rotWithShape="0">
              <a:srgbClr val="0B1F3A">
                <a:alpha val="14000"/>
              </a:srgbClr>
            </a:outerShdw>
          </a:effectLst>
        </p:spPr>
      </p:sp>
      <p:sp>
        <p:nvSpPr>
          <p:cNvPr id="15" name="IconCircle"/>
          <p:cNvSpPr/>
          <p:nvPr/>
        </p:nvSpPr>
        <p:spPr>
          <a:xfrm>
            <a:off x="7589520" y="5056632"/>
            <a:ext cx="731520" cy="731520"/>
          </a:xfrm>
          <a:prstGeom prst="ellipse">
            <a:avLst/>
          </a:prstGeom>
          <a:solidFill>
            <a:srgbClr val="C9A227"/>
          </a:solidFill>
          <a:ln w="12700">
            <a:solidFill>
              <a:srgbClr val="C9A227"/>
            </a:solidFill>
            <a:prstDash val="solid"/>
          </a:ln>
        </p:spPr>
      </p:sp>
      <p:pic>
        <p:nvPicPr>
          <p:cNvPr id="16" name="Image 2" descr="icon"/>
          <p:cNvPicPr>
            <a:picLocks noChangeAspect="1"/>
          </p:cNvPicPr>
          <p:nvPr/>
        </p:nvPicPr>
        <p:blipFill>
          <a:blip r:embed="rId5"/>
          <a:stretch>
            <a:fillRect/>
          </a:stretch>
        </p:blipFill>
        <p:spPr>
          <a:xfrm>
            <a:off x="7787030" y="5254142"/>
            <a:ext cx="336499" cy="336499"/>
          </a:xfrm>
          <a:prstGeom prst="rect">
            <a:avLst/>
          </a:prstGeom>
        </p:spPr>
      </p:pic>
      <p:sp>
        <p:nvSpPr>
          <p:cNvPr id="17" name="Text 12"/>
          <p:cNvSpPr txBox="1"/>
          <p:nvPr/>
        </p:nvSpPr>
        <p:spPr>
          <a:xfrm>
            <a:off x="8503920" y="4846320"/>
            <a:ext cx="2926080" cy="1143000"/>
          </a:xfrm>
          <a:prstGeom prst="rect">
            <a:avLst/>
          </a:prstGeom>
          <a:noFill/>
          <a:ln/>
        </p:spPr>
        <p:txBody>
          <a:bodyPr wrap="square" lIns="0" tIns="0" rIns="0" bIns="0" rtlCol="0" anchor="ctr"/>
          <a:lstStyle/>
          <a:p>
            <a:pPr marL="0" indent="0">
              <a:buNone/>
            </a:pPr>
            <a:r>
              <a:rPr lang="en-US" sz="1800" b="1" dirty="0">
                <a:solidFill>
                  <a:schemeClr val="tx1"/>
                </a:solidFill>
              </a:rPr>
              <a:t>Minimizes wrong entries</a:t>
            </a:r>
            <a:endParaRPr lang="en-US" sz="1800" dirty="0"/>
          </a:p>
          <a:p>
            <a:pPr marL="0" indent="0">
              <a:buNone/>
            </a:pPr>
            <a:r>
              <a:rPr lang="en-US" sz="1400" dirty="0">
                <a:solidFill>
                  <a:schemeClr val="accent5"/>
                </a:solidFill>
              </a:rPr>
              <a:t>Validation keeps records accurate and reliable</a:t>
            </a:r>
            <a:endParaRPr lang="en-US" sz="18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PROBLEM STATEMENT</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Understanding the Problem</a:t>
            </a:r>
            <a:endParaRPr lang="en-US" sz="3600" dirty="0"/>
          </a:p>
        </p:txBody>
      </p:sp>
      <p:sp>
        <p:nvSpPr>
          <p:cNvPr id="4" name="ProblemCard"/>
          <p:cNvSpPr/>
          <p:nvPr/>
        </p:nvSpPr>
        <p:spPr>
          <a:xfrm>
            <a:off x="640080" y="1600200"/>
            <a:ext cx="521208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IconCircle"/>
          <p:cNvSpPr/>
          <p:nvPr/>
        </p:nvSpPr>
        <p:spPr>
          <a:xfrm>
            <a:off x="960120" y="1828800"/>
            <a:ext cx="685800" cy="685800"/>
          </a:xfrm>
          <a:prstGeom prst="ellipse">
            <a:avLst/>
          </a:prstGeom>
          <a:solidFill>
            <a:schemeClr val="accent4"/>
          </a:solidFill>
          <a:ln w="12700">
            <a:solidFill>
              <a:schemeClr val="accent4"/>
            </a:solidFill>
            <a:prstDash val="solid"/>
          </a:ln>
        </p:spPr>
      </p:sp>
      <p:pic>
        <p:nvPicPr>
          <p:cNvPr id="6" name="Image 0" descr="icon"/>
          <p:cNvPicPr>
            <a:picLocks noChangeAspect="1"/>
          </p:cNvPicPr>
          <p:nvPr/>
        </p:nvPicPr>
        <p:blipFill>
          <a:blip r:embed="rId3"/>
          <a:stretch>
            <a:fillRect/>
          </a:stretch>
        </p:blipFill>
        <p:spPr>
          <a:xfrm>
            <a:off x="1145286" y="2013966"/>
            <a:ext cx="315468" cy="315468"/>
          </a:xfrm>
          <a:prstGeom prst="rect">
            <a:avLst/>
          </a:prstGeom>
        </p:spPr>
      </p:pic>
      <p:sp>
        <p:nvSpPr>
          <p:cNvPr id="7" name="Text 4"/>
          <p:cNvSpPr txBox="1"/>
          <p:nvPr/>
        </p:nvSpPr>
        <p:spPr>
          <a:xfrm>
            <a:off x="1828800" y="1828800"/>
            <a:ext cx="3840480" cy="6858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The Problem</a:t>
            </a:r>
            <a:endParaRPr lang="en-US" sz="2400" dirty="0"/>
          </a:p>
        </p:txBody>
      </p:sp>
      <p:sp>
        <p:nvSpPr>
          <p:cNvPr id="8" name="Text 5"/>
          <p:cNvSpPr txBox="1"/>
          <p:nvPr/>
        </p:nvSpPr>
        <p:spPr>
          <a:xfrm>
            <a:off x="1005840" y="2788920"/>
            <a:ext cx="4480560" cy="3108960"/>
          </a:xfrm>
          <a:prstGeom prst="rect">
            <a:avLst/>
          </a:prstGeom>
          <a:noFill/>
          <a:ln/>
        </p:spPr>
        <p:txBody>
          <a:bodyPr wrap="square" lIns="0" tIns="0" rIns="0" bIns="0" rtlCol="0" anchor="t"/>
          <a:lstStyle/>
          <a:p>
            <a:pPr marL="228600" indent="-228600">
              <a:spcAft>
                <a:spcPts val="1100"/>
              </a:spcAft>
              <a:buSzPct val="100000"/>
              <a:buChar char="•"/>
            </a:pPr>
            <a:r>
              <a:rPr lang="en-US" sz="1700" dirty="0">
                <a:solidFill>
                  <a:schemeClr val="tx1"/>
                </a:solidFill>
              </a:rPr>
              <a:t>Manually recording deposits and withdrawals is time-consuming</a:t>
            </a:r>
            <a:endParaRPr lang="en-US" sz="1700" dirty="0"/>
          </a:p>
          <a:p>
            <a:pPr marL="228600" indent="-228600">
              <a:spcAft>
                <a:spcPts val="1100"/>
              </a:spcAft>
              <a:buSzPct val="100000"/>
              <a:buChar char="•"/>
            </a:pPr>
            <a:r>
              <a:rPr lang="en-US" sz="1700" dirty="0">
                <a:solidFill>
                  <a:schemeClr val="tx1"/>
                </a:solidFill>
              </a:rPr>
              <a:t>Calculating the remaining balance by hand leads to errors</a:t>
            </a:r>
            <a:endParaRPr lang="en-US" sz="1700" dirty="0"/>
          </a:p>
          <a:p>
            <a:pPr marL="228600" indent="-228600">
              <a:spcAft>
                <a:spcPts val="1100"/>
              </a:spcAft>
              <a:buSzPct val="100000"/>
              <a:buChar char="•"/>
            </a:pPr>
            <a:r>
              <a:rPr lang="en-US" sz="1700" dirty="0">
                <a:solidFill>
                  <a:schemeClr val="tx1"/>
                </a:solidFill>
              </a:rPr>
              <a:t>Tracking transaction details and preparing statements is tedious</a:t>
            </a:r>
            <a:endParaRPr lang="en-US" sz="1700" dirty="0"/>
          </a:p>
        </p:txBody>
      </p:sp>
      <p:sp>
        <p:nvSpPr>
          <p:cNvPr id="9" name="SolutionCard"/>
          <p:cNvSpPr/>
          <p:nvPr/>
        </p:nvSpPr>
        <p:spPr>
          <a:xfrm>
            <a:off x="6336792" y="1600200"/>
            <a:ext cx="521208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10" name="IconCircle"/>
          <p:cNvSpPr/>
          <p:nvPr/>
        </p:nvSpPr>
        <p:spPr>
          <a:xfrm>
            <a:off x="6656832" y="1828800"/>
            <a:ext cx="685800" cy="685800"/>
          </a:xfrm>
          <a:prstGeom prst="ellipse">
            <a:avLst/>
          </a:prstGeom>
          <a:solidFill>
            <a:schemeClr val="accent1"/>
          </a:solidFill>
          <a:ln w="12700">
            <a:solidFill>
              <a:schemeClr val="accent1"/>
            </a:solidFill>
            <a:prstDash val="solid"/>
          </a:ln>
        </p:spPr>
      </p:sp>
      <p:pic>
        <p:nvPicPr>
          <p:cNvPr id="11" name="Image 1" descr="icon"/>
          <p:cNvPicPr>
            <a:picLocks noChangeAspect="1"/>
          </p:cNvPicPr>
          <p:nvPr/>
        </p:nvPicPr>
        <p:blipFill>
          <a:blip r:embed="rId4"/>
          <a:stretch>
            <a:fillRect/>
          </a:stretch>
        </p:blipFill>
        <p:spPr>
          <a:xfrm>
            <a:off x="6841998" y="2013966"/>
            <a:ext cx="315468" cy="315468"/>
          </a:xfrm>
          <a:prstGeom prst="rect">
            <a:avLst/>
          </a:prstGeom>
        </p:spPr>
      </p:pic>
      <p:sp>
        <p:nvSpPr>
          <p:cNvPr id="12" name="Text 8"/>
          <p:cNvSpPr txBox="1"/>
          <p:nvPr/>
        </p:nvSpPr>
        <p:spPr>
          <a:xfrm>
            <a:off x="7525512" y="1828800"/>
            <a:ext cx="3840480" cy="6858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Our Solution</a:t>
            </a:r>
            <a:endParaRPr lang="en-US" sz="2400" dirty="0"/>
          </a:p>
        </p:txBody>
      </p:sp>
      <p:sp>
        <p:nvSpPr>
          <p:cNvPr id="13" name="Text 9"/>
          <p:cNvSpPr txBox="1"/>
          <p:nvPr/>
        </p:nvSpPr>
        <p:spPr>
          <a:xfrm>
            <a:off x="6702552" y="2788920"/>
            <a:ext cx="4480560" cy="3108960"/>
          </a:xfrm>
          <a:prstGeom prst="rect">
            <a:avLst/>
          </a:prstGeom>
          <a:noFill/>
          <a:ln/>
        </p:spPr>
        <p:txBody>
          <a:bodyPr wrap="square" lIns="0" tIns="0" rIns="0" bIns="0" rtlCol="0" anchor="t"/>
          <a:lstStyle/>
          <a:p>
            <a:pPr marL="228600" indent="-228600">
              <a:spcAft>
                <a:spcPts val="1100"/>
              </a:spcAft>
              <a:buSzPct val="100000"/>
              <a:buChar char="•"/>
            </a:pPr>
            <a:r>
              <a:rPr lang="en-US" sz="1700" dirty="0">
                <a:solidFill>
                  <a:schemeClr val="tx1"/>
                </a:solidFill>
              </a:rPr>
              <a:t>Centralized, organized management of personal transactions</a:t>
            </a:r>
            <a:endParaRPr lang="en-US" sz="1700" dirty="0"/>
          </a:p>
          <a:p>
            <a:pPr marL="228600" indent="-228600">
              <a:spcAft>
                <a:spcPts val="1100"/>
              </a:spcAft>
              <a:buSzPct val="100000"/>
              <a:buChar char="•"/>
            </a:pPr>
            <a:r>
              <a:rPr lang="en-US" sz="1700" dirty="0">
                <a:solidFill>
                  <a:schemeClr val="tx1"/>
                </a:solidFill>
              </a:rPr>
              <a:t>Balance updates automatically after each successful transaction</a:t>
            </a:r>
            <a:endParaRPr lang="en-US" sz="1700" dirty="0"/>
          </a:p>
          <a:p>
            <a:pPr marL="228600" indent="-228600">
              <a:spcAft>
                <a:spcPts val="1100"/>
              </a:spcAft>
              <a:buSzPct val="100000"/>
              <a:buChar char="•"/>
            </a:pPr>
            <a:r>
              <a:rPr lang="en-US" sz="1700" dirty="0">
                <a:solidFill>
                  <a:schemeClr val="tx1"/>
                </a:solidFill>
              </a:rPr>
              <a:t>Prevents withdrawals beyond the available balance</a:t>
            </a:r>
            <a:endParaRPr lang="en-US" sz="1700" dirty="0"/>
          </a:p>
          <a:p>
            <a:pPr marL="228600" indent="-228600">
              <a:spcAft>
                <a:spcPts val="1100"/>
              </a:spcAft>
              <a:buSzPct val="100000"/>
              <a:buChar char="•"/>
            </a:pPr>
            <a:r>
              <a:rPr lang="en-US" sz="1700" dirty="0">
                <a:solidFill>
                  <a:schemeClr val="tx1"/>
                </a:solidFill>
              </a:rPr>
              <a:t>Unique transaction IDs and a complete history</a:t>
            </a:r>
            <a:endParaRPr lang="en-US" sz="1700" dirty="0"/>
          </a:p>
          <a:p>
            <a:pPr marL="228600" indent="-228600">
              <a:spcAft>
                <a:spcPts val="1100"/>
              </a:spcAft>
              <a:buSzPct val="100000"/>
              <a:buChar char="•"/>
            </a:pPr>
            <a:r>
              <a:rPr lang="en-US" sz="1700" dirty="0">
                <a:solidFill>
                  <a:schemeClr val="tx1"/>
                </a:solidFill>
              </a:rPr>
              <a:t>Totals deposits and withdrawals; generates a formatted statement</a:t>
            </a:r>
            <a:endParaRPr lang="en-US" sz="1700" dirty="0"/>
          </a:p>
        </p:txBody>
      </p:sp>
      <p:sp>
        <p:nvSpPr>
          <p:cNvPr id="14" name="ArrowCircle"/>
          <p:cNvSpPr/>
          <p:nvPr/>
        </p:nvSpPr>
        <p:spPr>
          <a:xfrm>
            <a:off x="5641848" y="3429000"/>
            <a:ext cx="731520" cy="731520"/>
          </a:xfrm>
          <a:prstGeom prst="ellipse">
            <a:avLst/>
          </a:prstGeom>
          <a:solidFill>
            <a:srgbClr val="0B1F3A"/>
          </a:solidFill>
          <a:ln w="38100">
            <a:solidFill>
              <a:srgbClr val="FFFFFF"/>
            </a:solidFill>
            <a:prstDash val="solid"/>
          </a:ln>
        </p:spPr>
      </p:sp>
      <p:sp>
        <p:nvSpPr>
          <p:cNvPr id="15" name="Text 11"/>
          <p:cNvSpPr txBox="1"/>
          <p:nvPr/>
        </p:nvSpPr>
        <p:spPr>
          <a:xfrm>
            <a:off x="5641848" y="3429000"/>
            <a:ext cx="731520" cy="731520"/>
          </a:xfrm>
          <a:prstGeom prst="rect">
            <a:avLst/>
          </a:prstGeom>
          <a:noFill/>
          <a:ln/>
        </p:spPr>
        <p:txBody>
          <a:bodyPr wrap="square" lIns="0" tIns="0" rIns="0" bIns="0" rtlCol="0" anchor="ctr"/>
          <a:lstStyle/>
          <a:p>
            <a:pPr marL="0" indent="0" algn="ctr">
              <a:buNone/>
            </a:pPr>
            <a:r>
              <a:rPr lang="en-US" sz="2600" b="1" dirty="0">
                <a:solidFill>
                  <a:schemeClr val="bg1"/>
                </a:solidFill>
              </a:rPr>
              <a:t>→</a:t>
            </a:r>
            <a:endParaRPr lang="en-US" sz="26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FEATURES</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What the System Does</a:t>
            </a:r>
            <a:endParaRPr lang="en-US" sz="3600" dirty="0"/>
          </a:p>
        </p:txBody>
      </p:sp>
      <p:sp>
        <p:nvSpPr>
          <p:cNvPr id="4" name="FeatureCard"/>
          <p:cNvSpPr/>
          <p:nvPr/>
        </p:nvSpPr>
        <p:spPr>
          <a:xfrm>
            <a:off x="640080" y="1600200"/>
            <a:ext cx="3520440" cy="2148840"/>
          </a:xfrm>
          <a:prstGeom prst="roundRect">
            <a:avLst>
              <a:gd name="adj" fmla="val 5106"/>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IconCircle"/>
          <p:cNvSpPr/>
          <p:nvPr/>
        </p:nvSpPr>
        <p:spPr>
          <a:xfrm>
            <a:off x="914400" y="1874520"/>
            <a:ext cx="685800" cy="685800"/>
          </a:xfrm>
          <a:prstGeom prst="ellipse">
            <a:avLst/>
          </a:prstGeom>
          <a:solidFill>
            <a:srgbClr val="1FA37A"/>
          </a:solidFill>
          <a:ln w="12700">
            <a:solidFill>
              <a:srgbClr val="1FA37A"/>
            </a:solidFill>
            <a:prstDash val="solid"/>
          </a:ln>
        </p:spPr>
      </p:sp>
      <p:pic>
        <p:nvPicPr>
          <p:cNvPr id="6" name="Image 0" descr="icon"/>
          <p:cNvPicPr>
            <a:picLocks noChangeAspect="1"/>
          </p:cNvPicPr>
          <p:nvPr/>
        </p:nvPicPr>
        <p:blipFill>
          <a:blip r:embed="rId3"/>
          <a:stretch>
            <a:fillRect/>
          </a:stretch>
        </p:blipFill>
        <p:spPr>
          <a:xfrm>
            <a:off x="1099566" y="2059686"/>
            <a:ext cx="315468" cy="315468"/>
          </a:xfrm>
          <a:prstGeom prst="rect">
            <a:avLst/>
          </a:prstGeom>
        </p:spPr>
      </p:pic>
      <p:sp>
        <p:nvSpPr>
          <p:cNvPr id="7" name="Text 4"/>
          <p:cNvSpPr txBox="1"/>
          <p:nvPr/>
        </p:nvSpPr>
        <p:spPr>
          <a:xfrm>
            <a:off x="914400" y="2606040"/>
            <a:ext cx="301752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Deposit &amp; Withdraw</a:t>
            </a:r>
            <a:endParaRPr lang="en-US" sz="1800" dirty="0"/>
          </a:p>
        </p:txBody>
      </p:sp>
      <p:sp>
        <p:nvSpPr>
          <p:cNvPr id="8" name="Text 5"/>
          <p:cNvSpPr txBox="1"/>
          <p:nvPr/>
        </p:nvSpPr>
        <p:spPr>
          <a:xfrm>
            <a:off x="914400" y="2971800"/>
            <a:ext cx="3017520" cy="685800"/>
          </a:xfrm>
          <a:prstGeom prst="rect">
            <a:avLst/>
          </a:prstGeom>
          <a:noFill/>
          <a:ln/>
        </p:spPr>
        <p:txBody>
          <a:bodyPr wrap="square" lIns="0" tIns="0" rIns="0" bIns="0" rtlCol="0" anchor="t"/>
          <a:lstStyle/>
          <a:p>
            <a:pPr marL="0" indent="0">
              <a:buNone/>
            </a:pPr>
            <a:r>
              <a:rPr lang="en-US" sz="1400" dirty="0">
                <a:solidFill>
                  <a:schemeClr val="accent5"/>
                </a:solidFill>
              </a:rPr>
              <a:t>Record every transaction with description, payment method and amount</a:t>
            </a:r>
            <a:endParaRPr lang="en-US" sz="1400" dirty="0"/>
          </a:p>
        </p:txBody>
      </p:sp>
      <p:sp>
        <p:nvSpPr>
          <p:cNvPr id="9" name="FeatureCard"/>
          <p:cNvSpPr/>
          <p:nvPr/>
        </p:nvSpPr>
        <p:spPr>
          <a:xfrm>
            <a:off x="4343400" y="1600200"/>
            <a:ext cx="3520440" cy="2148840"/>
          </a:xfrm>
          <a:prstGeom prst="roundRect">
            <a:avLst>
              <a:gd name="adj" fmla="val 5106"/>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10" name="IconCircle"/>
          <p:cNvSpPr/>
          <p:nvPr/>
        </p:nvSpPr>
        <p:spPr>
          <a:xfrm>
            <a:off x="4617720" y="1874520"/>
            <a:ext cx="685800" cy="685800"/>
          </a:xfrm>
          <a:prstGeom prst="ellipse">
            <a:avLst/>
          </a:prstGeom>
          <a:solidFill>
            <a:srgbClr val="D9534F"/>
          </a:solidFill>
          <a:ln w="12700">
            <a:solidFill>
              <a:srgbClr val="D9534F"/>
            </a:solidFill>
            <a:prstDash val="solid"/>
          </a:ln>
        </p:spPr>
      </p:sp>
      <p:pic>
        <p:nvPicPr>
          <p:cNvPr id="11" name="Image 1" descr="icon"/>
          <p:cNvPicPr>
            <a:picLocks noChangeAspect="1"/>
          </p:cNvPicPr>
          <p:nvPr/>
        </p:nvPicPr>
        <p:blipFill>
          <a:blip r:embed="rId4"/>
          <a:stretch>
            <a:fillRect/>
          </a:stretch>
        </p:blipFill>
        <p:spPr>
          <a:xfrm>
            <a:off x="4802886" y="2059686"/>
            <a:ext cx="315468" cy="315468"/>
          </a:xfrm>
          <a:prstGeom prst="rect">
            <a:avLst/>
          </a:prstGeom>
        </p:spPr>
      </p:pic>
      <p:sp>
        <p:nvSpPr>
          <p:cNvPr id="12" name="Text 8"/>
          <p:cNvSpPr txBox="1"/>
          <p:nvPr/>
        </p:nvSpPr>
        <p:spPr>
          <a:xfrm>
            <a:off x="4617720" y="2606040"/>
            <a:ext cx="301752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Overdraft Protection</a:t>
            </a:r>
            <a:endParaRPr lang="en-US" sz="1800" dirty="0"/>
          </a:p>
        </p:txBody>
      </p:sp>
      <p:sp>
        <p:nvSpPr>
          <p:cNvPr id="13" name="Text 9"/>
          <p:cNvSpPr txBox="1"/>
          <p:nvPr/>
        </p:nvSpPr>
        <p:spPr>
          <a:xfrm>
            <a:off x="4617720" y="2971800"/>
            <a:ext cx="3017520" cy="685800"/>
          </a:xfrm>
          <a:prstGeom prst="rect">
            <a:avLst/>
          </a:prstGeom>
          <a:noFill/>
          <a:ln/>
        </p:spPr>
        <p:txBody>
          <a:bodyPr wrap="square" lIns="0" tIns="0" rIns="0" bIns="0" rtlCol="0" anchor="t"/>
          <a:lstStyle/>
          <a:p>
            <a:pPr marL="0" indent="0">
              <a:buNone/>
            </a:pPr>
            <a:r>
              <a:rPr lang="en-US" sz="1400" dirty="0">
                <a:solidFill>
                  <a:schemeClr val="accent5"/>
                </a:solidFill>
              </a:rPr>
              <a:t>Withdrawals above the available balance are rejected</a:t>
            </a:r>
            <a:endParaRPr lang="en-US" sz="1400" dirty="0"/>
          </a:p>
        </p:txBody>
      </p:sp>
      <p:sp>
        <p:nvSpPr>
          <p:cNvPr id="14" name="FeatureCard"/>
          <p:cNvSpPr/>
          <p:nvPr/>
        </p:nvSpPr>
        <p:spPr>
          <a:xfrm>
            <a:off x="8046720" y="1600200"/>
            <a:ext cx="3520440" cy="2148840"/>
          </a:xfrm>
          <a:prstGeom prst="roundRect">
            <a:avLst>
              <a:gd name="adj" fmla="val 5106"/>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15" name="IconCircle"/>
          <p:cNvSpPr/>
          <p:nvPr/>
        </p:nvSpPr>
        <p:spPr>
          <a:xfrm>
            <a:off x="8321040" y="1874520"/>
            <a:ext cx="685800" cy="685800"/>
          </a:xfrm>
          <a:prstGeom prst="ellipse">
            <a:avLst/>
          </a:prstGeom>
          <a:solidFill>
            <a:srgbClr val="2F6FB3"/>
          </a:solidFill>
          <a:ln w="12700">
            <a:solidFill>
              <a:srgbClr val="2F6FB3"/>
            </a:solidFill>
            <a:prstDash val="solid"/>
          </a:ln>
        </p:spPr>
      </p:sp>
      <p:pic>
        <p:nvPicPr>
          <p:cNvPr id="16" name="Image 2" descr="icon"/>
          <p:cNvPicPr>
            <a:picLocks noChangeAspect="1"/>
          </p:cNvPicPr>
          <p:nvPr/>
        </p:nvPicPr>
        <p:blipFill>
          <a:blip r:embed="rId5"/>
          <a:stretch>
            <a:fillRect/>
          </a:stretch>
        </p:blipFill>
        <p:spPr>
          <a:xfrm>
            <a:off x="8506206" y="2059686"/>
            <a:ext cx="315468" cy="315468"/>
          </a:xfrm>
          <a:prstGeom prst="rect">
            <a:avLst/>
          </a:prstGeom>
        </p:spPr>
      </p:pic>
      <p:sp>
        <p:nvSpPr>
          <p:cNvPr id="17" name="Text 12"/>
          <p:cNvSpPr txBox="1"/>
          <p:nvPr/>
        </p:nvSpPr>
        <p:spPr>
          <a:xfrm>
            <a:off x="8321040" y="2606040"/>
            <a:ext cx="301752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Unique Transaction IDs</a:t>
            </a:r>
            <a:endParaRPr lang="en-US" sz="1800" dirty="0"/>
          </a:p>
        </p:txBody>
      </p:sp>
      <p:sp>
        <p:nvSpPr>
          <p:cNvPr id="18" name="Text 13"/>
          <p:cNvSpPr txBox="1"/>
          <p:nvPr/>
        </p:nvSpPr>
        <p:spPr>
          <a:xfrm>
            <a:off x="8321040" y="2971800"/>
            <a:ext cx="3017520" cy="685800"/>
          </a:xfrm>
          <a:prstGeom prst="rect">
            <a:avLst/>
          </a:prstGeom>
          <a:noFill/>
          <a:ln/>
        </p:spPr>
        <p:txBody>
          <a:bodyPr wrap="square" lIns="0" tIns="0" rIns="0" bIns="0" rtlCol="0" anchor="t"/>
          <a:lstStyle/>
          <a:p>
            <a:pPr marL="0" indent="0">
              <a:buNone/>
            </a:pPr>
            <a:r>
              <a:rPr lang="en-US" sz="1400" dirty="0">
                <a:solidFill>
                  <a:schemeClr val="accent5"/>
                </a:solidFill>
              </a:rPr>
              <a:t>Every entry gets its own ID, starting from 101</a:t>
            </a:r>
            <a:endParaRPr lang="en-US" sz="1400" dirty="0"/>
          </a:p>
        </p:txBody>
      </p:sp>
      <p:sp>
        <p:nvSpPr>
          <p:cNvPr id="19" name="FeatureCard"/>
          <p:cNvSpPr/>
          <p:nvPr/>
        </p:nvSpPr>
        <p:spPr>
          <a:xfrm>
            <a:off x="640080" y="3931920"/>
            <a:ext cx="3520440" cy="2148840"/>
          </a:xfrm>
          <a:prstGeom prst="roundRect">
            <a:avLst>
              <a:gd name="adj" fmla="val 5106"/>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20" name="IconCircle"/>
          <p:cNvSpPr/>
          <p:nvPr/>
        </p:nvSpPr>
        <p:spPr>
          <a:xfrm>
            <a:off x="914400" y="4206240"/>
            <a:ext cx="685800" cy="685800"/>
          </a:xfrm>
          <a:prstGeom prst="ellipse">
            <a:avLst/>
          </a:prstGeom>
          <a:solidFill>
            <a:srgbClr val="0E7C86"/>
          </a:solidFill>
          <a:ln w="12700">
            <a:solidFill>
              <a:srgbClr val="0E7C86"/>
            </a:solidFill>
            <a:prstDash val="solid"/>
          </a:ln>
        </p:spPr>
      </p:sp>
      <p:pic>
        <p:nvPicPr>
          <p:cNvPr id="21" name="Image 3" descr="icon"/>
          <p:cNvPicPr>
            <a:picLocks noChangeAspect="1"/>
          </p:cNvPicPr>
          <p:nvPr/>
        </p:nvPicPr>
        <p:blipFill>
          <a:blip r:embed="rId6"/>
          <a:stretch>
            <a:fillRect/>
          </a:stretch>
        </p:blipFill>
        <p:spPr>
          <a:xfrm>
            <a:off x="1099566" y="4391406"/>
            <a:ext cx="315468" cy="315468"/>
          </a:xfrm>
          <a:prstGeom prst="rect">
            <a:avLst/>
          </a:prstGeom>
        </p:spPr>
      </p:pic>
      <p:sp>
        <p:nvSpPr>
          <p:cNvPr id="22" name="Text 16"/>
          <p:cNvSpPr txBox="1"/>
          <p:nvPr/>
        </p:nvSpPr>
        <p:spPr>
          <a:xfrm>
            <a:off x="914400" y="4937760"/>
            <a:ext cx="301752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Search by ID</a:t>
            </a:r>
            <a:endParaRPr lang="en-US" sz="1800" dirty="0"/>
          </a:p>
        </p:txBody>
      </p:sp>
      <p:sp>
        <p:nvSpPr>
          <p:cNvPr id="23" name="Text 17"/>
          <p:cNvSpPr txBox="1"/>
          <p:nvPr/>
        </p:nvSpPr>
        <p:spPr>
          <a:xfrm>
            <a:off x="914400" y="5303520"/>
            <a:ext cx="3017520" cy="685800"/>
          </a:xfrm>
          <a:prstGeom prst="rect">
            <a:avLst/>
          </a:prstGeom>
          <a:noFill/>
          <a:ln/>
        </p:spPr>
        <p:txBody>
          <a:bodyPr wrap="square" lIns="0" tIns="0" rIns="0" bIns="0" rtlCol="0" anchor="t"/>
          <a:lstStyle/>
          <a:p>
            <a:pPr marL="0" indent="0">
              <a:buNone/>
            </a:pPr>
            <a:r>
              <a:rPr lang="en-US" sz="1400" dirty="0">
                <a:solidFill>
                  <a:schemeClr val="accent5"/>
                </a:solidFill>
              </a:rPr>
              <a:t>Find any transaction instantly using its unique ID</a:t>
            </a:r>
            <a:endParaRPr lang="en-US" sz="1400" dirty="0"/>
          </a:p>
        </p:txBody>
      </p:sp>
      <p:sp>
        <p:nvSpPr>
          <p:cNvPr id="24" name="FeatureCard"/>
          <p:cNvSpPr/>
          <p:nvPr/>
        </p:nvSpPr>
        <p:spPr>
          <a:xfrm>
            <a:off x="4343400" y="3931920"/>
            <a:ext cx="3520440" cy="2148840"/>
          </a:xfrm>
          <a:prstGeom prst="roundRect">
            <a:avLst>
              <a:gd name="adj" fmla="val 5106"/>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25" name="IconCircle"/>
          <p:cNvSpPr/>
          <p:nvPr/>
        </p:nvSpPr>
        <p:spPr>
          <a:xfrm>
            <a:off x="4617720" y="4206240"/>
            <a:ext cx="685800" cy="685800"/>
          </a:xfrm>
          <a:prstGeom prst="ellipse">
            <a:avLst/>
          </a:prstGeom>
          <a:solidFill>
            <a:srgbClr val="C9A227"/>
          </a:solidFill>
          <a:ln w="12700">
            <a:solidFill>
              <a:srgbClr val="C9A227"/>
            </a:solidFill>
            <a:prstDash val="solid"/>
          </a:ln>
        </p:spPr>
      </p:sp>
      <p:pic>
        <p:nvPicPr>
          <p:cNvPr id="26" name="Image 4" descr="icon"/>
          <p:cNvPicPr>
            <a:picLocks noChangeAspect="1"/>
          </p:cNvPicPr>
          <p:nvPr/>
        </p:nvPicPr>
        <p:blipFill>
          <a:blip r:embed="rId7"/>
          <a:stretch>
            <a:fillRect/>
          </a:stretch>
        </p:blipFill>
        <p:spPr>
          <a:xfrm>
            <a:off x="4802886" y="4391406"/>
            <a:ext cx="315468" cy="315468"/>
          </a:xfrm>
          <a:prstGeom prst="rect">
            <a:avLst/>
          </a:prstGeom>
        </p:spPr>
      </p:pic>
      <p:sp>
        <p:nvSpPr>
          <p:cNvPr id="27" name="Text 20"/>
          <p:cNvSpPr txBox="1"/>
          <p:nvPr/>
        </p:nvSpPr>
        <p:spPr>
          <a:xfrm>
            <a:off x="4617720" y="4937760"/>
            <a:ext cx="301752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Ledger Statistics</a:t>
            </a:r>
            <a:endParaRPr lang="en-US" sz="1800" dirty="0"/>
          </a:p>
        </p:txBody>
      </p:sp>
      <p:sp>
        <p:nvSpPr>
          <p:cNvPr id="28" name="Text 21"/>
          <p:cNvSpPr txBox="1"/>
          <p:nvPr/>
        </p:nvSpPr>
        <p:spPr>
          <a:xfrm>
            <a:off x="4617720" y="5303520"/>
            <a:ext cx="3017520" cy="685800"/>
          </a:xfrm>
          <a:prstGeom prst="rect">
            <a:avLst/>
          </a:prstGeom>
          <a:noFill/>
          <a:ln/>
        </p:spPr>
        <p:txBody>
          <a:bodyPr wrap="square" lIns="0" tIns="0" rIns="0" bIns="0" rtlCol="0" anchor="t"/>
          <a:lstStyle/>
          <a:p>
            <a:pPr marL="0" indent="0">
              <a:buNone/>
            </a:pPr>
            <a:r>
              <a:rPr lang="en-US" sz="1400" dirty="0">
                <a:solidFill>
                  <a:schemeClr val="accent5"/>
                </a:solidFill>
              </a:rPr>
              <a:t>Totals of deposits, withdrawals, counts and amounts by description</a:t>
            </a:r>
            <a:endParaRPr lang="en-US" sz="1400" dirty="0"/>
          </a:p>
        </p:txBody>
      </p:sp>
      <p:sp>
        <p:nvSpPr>
          <p:cNvPr id="29" name="FeatureCard"/>
          <p:cNvSpPr/>
          <p:nvPr/>
        </p:nvSpPr>
        <p:spPr>
          <a:xfrm>
            <a:off x="8046720" y="3931920"/>
            <a:ext cx="3520440" cy="2148840"/>
          </a:xfrm>
          <a:prstGeom prst="roundRect">
            <a:avLst>
              <a:gd name="adj" fmla="val 5106"/>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30" name="IconCircle"/>
          <p:cNvSpPr/>
          <p:nvPr/>
        </p:nvSpPr>
        <p:spPr>
          <a:xfrm>
            <a:off x="8321040" y="4206240"/>
            <a:ext cx="685800" cy="685800"/>
          </a:xfrm>
          <a:prstGeom prst="ellipse">
            <a:avLst/>
          </a:prstGeom>
          <a:solidFill>
            <a:srgbClr val="173A66"/>
          </a:solidFill>
          <a:ln w="12700">
            <a:solidFill>
              <a:srgbClr val="173A66"/>
            </a:solidFill>
            <a:prstDash val="solid"/>
          </a:ln>
        </p:spPr>
      </p:sp>
      <p:pic>
        <p:nvPicPr>
          <p:cNvPr id="31" name="Image 5" descr="icon"/>
          <p:cNvPicPr>
            <a:picLocks noChangeAspect="1"/>
          </p:cNvPicPr>
          <p:nvPr/>
        </p:nvPicPr>
        <p:blipFill>
          <a:blip r:embed="rId8"/>
          <a:stretch>
            <a:fillRect/>
          </a:stretch>
        </p:blipFill>
        <p:spPr>
          <a:xfrm>
            <a:off x="8506206" y="4391406"/>
            <a:ext cx="315468" cy="315468"/>
          </a:xfrm>
          <a:prstGeom prst="rect">
            <a:avLst/>
          </a:prstGeom>
        </p:spPr>
      </p:pic>
      <p:sp>
        <p:nvSpPr>
          <p:cNvPr id="32" name="Text 24"/>
          <p:cNvSpPr txBox="1"/>
          <p:nvPr/>
        </p:nvSpPr>
        <p:spPr>
          <a:xfrm>
            <a:off x="8321040" y="4937760"/>
            <a:ext cx="301752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Saved Statement</a:t>
            </a:r>
            <a:endParaRPr lang="en-US" sz="1800" dirty="0"/>
          </a:p>
        </p:txBody>
      </p:sp>
      <p:sp>
        <p:nvSpPr>
          <p:cNvPr id="33" name="Text 25"/>
          <p:cNvSpPr txBox="1"/>
          <p:nvPr/>
        </p:nvSpPr>
        <p:spPr>
          <a:xfrm>
            <a:off x="8321040" y="5303520"/>
            <a:ext cx="3017520" cy="685800"/>
          </a:xfrm>
          <a:prstGeom prst="rect">
            <a:avLst/>
          </a:prstGeom>
          <a:noFill/>
          <a:ln/>
        </p:spPr>
        <p:txBody>
          <a:bodyPr wrap="square" lIns="0" tIns="0" rIns="0" bIns="0" rtlCol="0" anchor="t"/>
          <a:lstStyle/>
          <a:p>
            <a:pPr marL="0" indent="0">
              <a:buNone/>
            </a:pPr>
            <a:r>
              <a:rPr lang="en-US" sz="1400" dirty="0">
                <a:solidFill>
                  <a:schemeClr val="accent5"/>
                </a:solidFill>
              </a:rPr>
              <a:t>A formatted statement is saved as a text file for future reference</a:t>
            </a:r>
            <a:endParaRPr lang="en-US" sz="1400" dirty="0"/>
          </a:p>
        </p:txBody>
      </p:sp>
      <p:sp>
        <p:nvSpPr>
          <p:cNvPr id="34"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COURSE OUTCOME 1 OF 6</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CO 1  ·  Fundamentals &amp; I/O</a:t>
            </a:r>
            <a:endParaRPr lang="en-US" sz="3600" dirty="0"/>
          </a:p>
        </p:txBody>
      </p:sp>
      <p:sp>
        <p:nvSpPr>
          <p:cNvPr id="4" name="TopicsCard"/>
          <p:cNvSpPr/>
          <p:nvPr/>
        </p:nvSpPr>
        <p:spPr>
          <a:xfrm>
            <a:off x="640080" y="1600200"/>
            <a:ext cx="676656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Text 3"/>
          <p:cNvSpPr txBox="1"/>
          <p:nvPr/>
        </p:nvSpPr>
        <p:spPr>
          <a:xfrm>
            <a:off x="960120" y="1828800"/>
            <a:ext cx="6172200" cy="4069080"/>
          </a:xfrm>
          <a:prstGeom prst="rect">
            <a:avLst/>
          </a:prstGeom>
          <a:noFill/>
          <a:ln/>
        </p:spPr>
        <p:txBody>
          <a:bodyPr wrap="square" lIns="0" tIns="0" rIns="0" bIns="0" rtlCol="0" anchor="ctr"/>
          <a:lstStyle/>
          <a:p>
            <a:pPr marL="228600" indent="-228600">
              <a:spcAft>
                <a:spcPts val="1200"/>
              </a:spcAft>
              <a:buSzPct val="100000"/>
              <a:buChar char="•"/>
            </a:pPr>
            <a:r>
              <a:rPr lang="en-US" sz="2000" dirty="0">
                <a:solidFill>
                  <a:schemeClr val="tx1"/>
                </a:solidFill>
              </a:rPr>
              <a:t>Primitive data types: int, double, boolean</a:t>
            </a:r>
            <a:endParaRPr lang="en-US" sz="2000" dirty="0"/>
          </a:p>
          <a:p>
            <a:pPr marL="228600" indent="-228600">
              <a:spcAft>
                <a:spcPts val="1200"/>
              </a:spcAft>
              <a:buSzPct val="100000"/>
              <a:buChar char="•"/>
            </a:pPr>
            <a:r>
              <a:rPr lang="en-US" sz="2000" dirty="0">
                <a:solidFill>
                  <a:schemeClr val="tx1"/>
                </a:solidFill>
              </a:rPr>
              <a:t>Variables and constants: variables, static final</a:t>
            </a:r>
            <a:endParaRPr lang="en-US" sz="2000" dirty="0"/>
          </a:p>
          <a:p>
            <a:pPr marL="228600" indent="-228600">
              <a:spcAft>
                <a:spcPts val="1200"/>
              </a:spcAft>
              <a:buSzPct val="100000"/>
              <a:buChar char="•"/>
            </a:pPr>
            <a:r>
              <a:rPr lang="en-US" sz="2000" dirty="0">
                <a:solidFill>
                  <a:schemeClr val="tx1"/>
                </a:solidFill>
              </a:rPr>
              <a:t>Identifiers and literals</a:t>
            </a:r>
            <a:endParaRPr lang="en-US" sz="2000" dirty="0"/>
          </a:p>
          <a:p>
            <a:pPr marL="228600" indent="-228600">
              <a:spcAft>
                <a:spcPts val="1200"/>
              </a:spcAft>
              <a:buSzPct val="100000"/>
              <a:buChar char="•"/>
            </a:pPr>
            <a:r>
              <a:rPr lang="en-US" sz="2000" dirty="0">
                <a:solidFill>
                  <a:schemeClr val="tx1"/>
                </a:solidFill>
              </a:rPr>
              <a:t>Operators: arithmetic, relational, logical, assignment</a:t>
            </a:r>
            <a:endParaRPr lang="en-US" sz="2000" dirty="0"/>
          </a:p>
          <a:p>
            <a:pPr marL="228600" indent="-228600">
              <a:spcAft>
                <a:spcPts val="1200"/>
              </a:spcAft>
              <a:buSzPct val="100000"/>
              <a:buChar char="•"/>
            </a:pPr>
            <a:r>
              <a:rPr lang="en-US" sz="2000" dirty="0">
                <a:solidFill>
                  <a:schemeClr val="tx1"/>
                </a:solidFill>
              </a:rPr>
              <a:t>Expression evaluation and operator precedence</a:t>
            </a:r>
            <a:endParaRPr lang="en-US" sz="2000" dirty="0"/>
          </a:p>
          <a:p>
            <a:pPr marL="228600" indent="-228600">
              <a:spcAft>
                <a:spcPts val="1200"/>
              </a:spcAft>
              <a:buSzPct val="100000"/>
              <a:buChar char="•"/>
            </a:pPr>
            <a:r>
              <a:rPr lang="en-US" sz="2000" dirty="0">
                <a:solidFill>
                  <a:schemeClr val="tx1"/>
                </a:solidFill>
              </a:rPr>
              <a:t>Console input using Scanner</a:t>
            </a:r>
            <a:endParaRPr lang="en-US" sz="2000" dirty="0"/>
          </a:p>
          <a:p>
            <a:pPr marL="228600" indent="-228600">
              <a:spcAft>
                <a:spcPts val="1200"/>
              </a:spcAft>
              <a:buSzPct val="100000"/>
              <a:buChar char="•"/>
            </a:pPr>
            <a:r>
              <a:rPr lang="en-US" sz="2000" dirty="0">
                <a:solidFill>
                  <a:schemeClr val="tx1"/>
                </a:solidFill>
              </a:rPr>
              <a:t>Formatted output using System.out.printf()</a:t>
            </a:r>
            <a:endParaRPr lang="en-US" sz="2000" dirty="0"/>
          </a:p>
          <a:p>
            <a:pPr marL="228600" indent="-228600">
              <a:spcAft>
                <a:spcPts val="1200"/>
              </a:spcAft>
              <a:buSzPct val="100000"/>
              <a:buChar char="•"/>
            </a:pPr>
            <a:r>
              <a:rPr lang="en-US" sz="2000" dirty="0">
                <a:solidFill>
                  <a:schemeClr val="tx1"/>
                </a:solidFill>
              </a:rPr>
              <a:t>Problem-solving and program structure</a:t>
            </a:r>
            <a:endParaRPr lang="en-US" sz="2000" dirty="0"/>
          </a:p>
        </p:txBody>
      </p:sp>
      <p:sp>
        <p:nvSpPr>
          <p:cNvPr id="6" name="CodeCard"/>
          <p:cNvSpPr/>
          <p:nvPr/>
        </p:nvSpPr>
        <p:spPr>
          <a:xfrm>
            <a:off x="7708392" y="2449382"/>
            <a:ext cx="3840480" cy="2279276"/>
          </a:xfrm>
          <a:prstGeom prst="roundRect">
            <a:avLst>
              <a:gd name="adj" fmla="val 4814"/>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7" name="Image 0" descr="Code snippet from the project"/>
          <p:cNvPicPr>
            <a:picLocks noChangeAspect="1"/>
          </p:cNvPicPr>
          <p:nvPr/>
        </p:nvPicPr>
        <p:blipFill>
          <a:blip r:embed="rId3"/>
          <a:stretch>
            <a:fillRect/>
          </a:stretch>
        </p:blipFill>
        <p:spPr>
          <a:xfrm>
            <a:off x="7708392" y="2586542"/>
            <a:ext cx="3840480" cy="2004956"/>
          </a:xfrm>
          <a:prstGeom prst="rect">
            <a:avLst/>
          </a:prstGeom>
        </p:spPr>
      </p:pic>
      <p:sp>
        <p:nvSpPr>
          <p:cNvPr id="8" name="Text 5"/>
          <p:cNvSpPr txBox="1"/>
          <p:nvPr/>
        </p:nvSpPr>
        <p:spPr>
          <a:xfrm>
            <a:off x="7708392" y="4865818"/>
            <a:ext cx="3840480" cy="274320"/>
          </a:xfrm>
          <a:prstGeom prst="rect">
            <a:avLst/>
          </a:prstGeom>
          <a:noFill/>
          <a:ln/>
        </p:spPr>
        <p:txBody>
          <a:bodyPr wrap="square" lIns="0" tIns="0" rIns="0" bIns="0" rtlCol="0" anchor="ctr"/>
          <a:lstStyle/>
          <a:p>
            <a:pPr marL="0" indent="0" algn="ctr">
              <a:buNone/>
            </a:pPr>
            <a:r>
              <a:rPr lang="en-US" sz="1200" dirty="0">
                <a:solidFill>
                  <a:schemeClr val="accent5"/>
                </a:solidFill>
              </a:rPr>
              <a:t>Used in this project</a:t>
            </a:r>
            <a:endParaRPr lang="en-US" sz="1200" dirty="0"/>
          </a:p>
        </p:txBody>
      </p:sp>
      <p:sp>
        <p:nvSpPr>
          <p:cNvPr id="9" name="Shape 6"/>
          <p:cNvSpPr/>
          <p:nvPr/>
        </p:nvSpPr>
        <p:spPr>
          <a:xfrm>
            <a:off x="10744200" y="1737360"/>
            <a:ext cx="9144" cy="9144"/>
          </a:xfrm>
          <a:prstGeom prst="ellipse">
            <a:avLst/>
          </a:prstGeom>
          <a:solidFill>
            <a:srgbClr val="FFFFFF"/>
          </a:solidFill>
          <a:ln w="12700">
            <a:solidFill>
              <a:srgbClr val="FFFFFF"/>
            </a:solidFill>
            <a:prstDash val="solid"/>
          </a:ln>
        </p:spPr>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COURSE OUTCOME 2 OF 6</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CO 2  ·  Control Flow &amp; Menus</a:t>
            </a:r>
            <a:endParaRPr lang="en-US" sz="3600" dirty="0"/>
          </a:p>
        </p:txBody>
      </p:sp>
      <p:sp>
        <p:nvSpPr>
          <p:cNvPr id="4" name="TopicsCard"/>
          <p:cNvSpPr/>
          <p:nvPr/>
        </p:nvSpPr>
        <p:spPr>
          <a:xfrm>
            <a:off x="640080" y="1600200"/>
            <a:ext cx="676656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Text 3"/>
          <p:cNvSpPr txBox="1"/>
          <p:nvPr/>
        </p:nvSpPr>
        <p:spPr>
          <a:xfrm>
            <a:off x="960120" y="1828800"/>
            <a:ext cx="6172200" cy="4069080"/>
          </a:xfrm>
          <a:prstGeom prst="rect">
            <a:avLst/>
          </a:prstGeom>
          <a:noFill/>
          <a:ln/>
        </p:spPr>
        <p:txBody>
          <a:bodyPr wrap="square" lIns="0" tIns="0" rIns="0" bIns="0" rtlCol="0" anchor="ctr"/>
          <a:lstStyle/>
          <a:p>
            <a:pPr marL="228600" indent="-228600">
              <a:spcAft>
                <a:spcPts val="1200"/>
              </a:spcAft>
              <a:buSzPct val="100000"/>
              <a:buChar char="•"/>
            </a:pPr>
            <a:r>
              <a:rPr lang="en-US" sz="2000" dirty="0">
                <a:solidFill>
                  <a:schemeClr val="tx1"/>
                </a:solidFill>
              </a:rPr>
              <a:t>Conditional statements: if, if-else</a:t>
            </a:r>
            <a:endParaRPr lang="en-US" sz="2000" dirty="0"/>
          </a:p>
          <a:p>
            <a:pPr marL="228600" indent="-228600">
              <a:spcAft>
                <a:spcPts val="1200"/>
              </a:spcAft>
              <a:buSzPct val="100000"/>
              <a:buChar char="•"/>
            </a:pPr>
            <a:r>
              <a:rPr lang="en-US" sz="2000" dirty="0">
                <a:solidFill>
                  <a:schemeClr val="tx1"/>
                </a:solidFill>
              </a:rPr>
              <a:t>switch statement with case, break, default</a:t>
            </a:r>
            <a:endParaRPr lang="en-US" sz="2000" dirty="0"/>
          </a:p>
          <a:p>
            <a:pPr marL="228600" indent="-228600">
              <a:spcAft>
                <a:spcPts val="1200"/>
              </a:spcAft>
              <a:buSzPct val="100000"/>
              <a:buChar char="•"/>
            </a:pPr>
            <a:r>
              <a:rPr lang="en-US" sz="2000" dirty="0">
                <a:solidFill>
                  <a:schemeClr val="tx1"/>
                </a:solidFill>
              </a:rPr>
              <a:t>do-while loop</a:t>
            </a:r>
            <a:endParaRPr lang="en-US" sz="2000" dirty="0"/>
          </a:p>
          <a:p>
            <a:pPr marL="228600" indent="-228600">
              <a:spcAft>
                <a:spcPts val="1200"/>
              </a:spcAft>
              <a:buSzPct val="100000"/>
              <a:buChar char="•"/>
            </a:pPr>
            <a:r>
              <a:rPr lang="en-US" sz="2000" dirty="0">
                <a:solidFill>
                  <a:schemeClr val="tx1"/>
                </a:solidFill>
              </a:rPr>
              <a:t>while loop</a:t>
            </a:r>
            <a:endParaRPr lang="en-US" sz="2000" dirty="0"/>
          </a:p>
          <a:p>
            <a:pPr marL="228600" indent="-228600">
              <a:spcAft>
                <a:spcPts val="1200"/>
              </a:spcAft>
              <a:buSzPct val="100000"/>
              <a:buChar char="•"/>
            </a:pPr>
            <a:r>
              <a:rPr lang="en-US" sz="2000" dirty="0">
                <a:solidFill>
                  <a:schemeClr val="tx1"/>
                </a:solidFill>
              </a:rPr>
              <a:t>Enhanced for loop</a:t>
            </a:r>
            <a:endParaRPr lang="en-US" sz="2000" dirty="0"/>
          </a:p>
          <a:p>
            <a:pPr marL="228600" indent="-228600">
              <a:spcAft>
                <a:spcPts val="1200"/>
              </a:spcAft>
              <a:buSzPct val="100000"/>
              <a:buChar char="•"/>
            </a:pPr>
            <a:r>
              <a:rPr lang="en-US" sz="2000" dirty="0">
                <a:solidFill>
                  <a:schemeClr val="tx1"/>
                </a:solidFill>
              </a:rPr>
              <a:t>Input validation using conditions</a:t>
            </a:r>
            <a:endParaRPr lang="en-US" sz="2000" dirty="0"/>
          </a:p>
          <a:p>
            <a:pPr marL="228600" indent="-228600">
              <a:spcAft>
                <a:spcPts val="1200"/>
              </a:spcAft>
              <a:buSzPct val="100000"/>
              <a:buChar char="•"/>
            </a:pPr>
            <a:r>
              <a:rPr lang="en-US" sz="2000" dirty="0">
                <a:solidFill>
                  <a:schemeClr val="tx1"/>
                </a:solidFill>
              </a:rPr>
              <a:t>Menu-driven programming</a:t>
            </a:r>
            <a:endParaRPr lang="en-US" sz="2000" dirty="0"/>
          </a:p>
        </p:txBody>
      </p:sp>
      <p:sp>
        <p:nvSpPr>
          <p:cNvPr id="6" name="CodeCard"/>
          <p:cNvSpPr/>
          <p:nvPr/>
        </p:nvSpPr>
        <p:spPr>
          <a:xfrm>
            <a:off x="7708392" y="2544247"/>
            <a:ext cx="3840480" cy="2089547"/>
          </a:xfrm>
          <a:prstGeom prst="roundRect">
            <a:avLst>
              <a:gd name="adj" fmla="val 5251"/>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7" name="Image 0" descr="Code snippet from the project"/>
          <p:cNvPicPr>
            <a:picLocks noChangeAspect="1"/>
          </p:cNvPicPr>
          <p:nvPr/>
        </p:nvPicPr>
        <p:blipFill>
          <a:blip r:embed="rId3"/>
          <a:stretch>
            <a:fillRect/>
          </a:stretch>
        </p:blipFill>
        <p:spPr>
          <a:xfrm>
            <a:off x="7708392" y="2681407"/>
            <a:ext cx="3840480" cy="1815227"/>
          </a:xfrm>
          <a:prstGeom prst="rect">
            <a:avLst/>
          </a:prstGeom>
        </p:spPr>
      </p:pic>
      <p:sp>
        <p:nvSpPr>
          <p:cNvPr id="8" name="Text 5"/>
          <p:cNvSpPr txBox="1"/>
          <p:nvPr/>
        </p:nvSpPr>
        <p:spPr>
          <a:xfrm>
            <a:off x="7708392" y="4770953"/>
            <a:ext cx="3840480" cy="274320"/>
          </a:xfrm>
          <a:prstGeom prst="rect">
            <a:avLst/>
          </a:prstGeom>
          <a:noFill/>
          <a:ln/>
        </p:spPr>
        <p:txBody>
          <a:bodyPr wrap="square" lIns="0" tIns="0" rIns="0" bIns="0" rtlCol="0" anchor="ctr"/>
          <a:lstStyle/>
          <a:p>
            <a:pPr marL="0" indent="0" algn="ctr">
              <a:buNone/>
            </a:pPr>
            <a:r>
              <a:rPr lang="en-US" sz="1200" dirty="0">
                <a:solidFill>
                  <a:schemeClr val="accent5"/>
                </a:solidFill>
              </a:rPr>
              <a:t>Used in this project</a:t>
            </a:r>
            <a:endParaRPr lang="en-US" sz="1200" dirty="0"/>
          </a:p>
        </p:txBody>
      </p:sp>
      <p:sp>
        <p:nvSpPr>
          <p:cNvPr id="9" name="Shape 6"/>
          <p:cNvSpPr/>
          <p:nvPr/>
        </p:nvSpPr>
        <p:spPr>
          <a:xfrm>
            <a:off x="10744200" y="1737360"/>
            <a:ext cx="9144" cy="9144"/>
          </a:xfrm>
          <a:prstGeom prst="ellipse">
            <a:avLst/>
          </a:prstGeom>
          <a:solidFill>
            <a:srgbClr val="FFFFFF"/>
          </a:solidFill>
          <a:ln w="12700">
            <a:solidFill>
              <a:srgbClr val="FFFFFF"/>
            </a:solidFill>
            <a:prstDash val="solid"/>
          </a:ln>
        </p:spPr>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COURSE OUTCOME 3 OF 6</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CO 3  ·  Methods &amp; Recursion</a:t>
            </a:r>
            <a:endParaRPr lang="en-US" sz="3600" dirty="0"/>
          </a:p>
        </p:txBody>
      </p:sp>
      <p:sp>
        <p:nvSpPr>
          <p:cNvPr id="4" name="TopicsCard"/>
          <p:cNvSpPr/>
          <p:nvPr/>
        </p:nvSpPr>
        <p:spPr>
          <a:xfrm>
            <a:off x="640080" y="1600200"/>
            <a:ext cx="676656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Text 3"/>
          <p:cNvSpPr txBox="1"/>
          <p:nvPr/>
        </p:nvSpPr>
        <p:spPr>
          <a:xfrm>
            <a:off x="960120" y="1828800"/>
            <a:ext cx="6172200" cy="4069080"/>
          </a:xfrm>
          <a:prstGeom prst="rect">
            <a:avLst/>
          </a:prstGeom>
          <a:noFill/>
          <a:ln/>
        </p:spPr>
        <p:txBody>
          <a:bodyPr wrap="square" lIns="0" tIns="0" rIns="0" bIns="0" rtlCol="0" anchor="ctr"/>
          <a:lstStyle/>
          <a:p>
            <a:pPr marL="228600" indent="-228600">
              <a:spcAft>
                <a:spcPts val="1200"/>
              </a:spcAft>
              <a:buSzPct val="100000"/>
              <a:buChar char="•"/>
            </a:pPr>
            <a:r>
              <a:rPr lang="en-US" sz="2000" dirty="0">
                <a:solidFill>
                  <a:schemeClr val="tx1"/>
                </a:solidFill>
              </a:rPr>
              <a:t>Modular programming using methods</a:t>
            </a:r>
            <a:endParaRPr lang="en-US" sz="2000" dirty="0"/>
          </a:p>
          <a:p>
            <a:pPr marL="228600" indent="-228600">
              <a:spcAft>
                <a:spcPts val="1200"/>
              </a:spcAft>
              <a:buSzPct val="100000"/>
              <a:buChar char="•"/>
            </a:pPr>
            <a:r>
              <a:rPr lang="en-US" sz="2000" dirty="0">
                <a:solidFill>
                  <a:schemeClr val="tx1"/>
                </a:solidFill>
              </a:rPr>
              <a:t>Parameter passing and return values</a:t>
            </a:r>
            <a:endParaRPr lang="en-US" sz="2000" dirty="0"/>
          </a:p>
          <a:p>
            <a:pPr marL="228600" indent="-228600">
              <a:spcAft>
                <a:spcPts val="1200"/>
              </a:spcAft>
              <a:buSzPct val="100000"/>
              <a:buChar char="•"/>
            </a:pPr>
            <a:r>
              <a:rPr lang="en-US" sz="2000" dirty="0">
                <a:solidFill>
                  <a:schemeClr val="tx1"/>
                </a:solidFill>
              </a:rPr>
              <a:t>Method overloading: deposit()</a:t>
            </a:r>
            <a:endParaRPr lang="en-US" sz="2000" dirty="0"/>
          </a:p>
          <a:p>
            <a:pPr marL="228600" indent="-228600">
              <a:spcAft>
                <a:spcPts val="1200"/>
              </a:spcAft>
              <a:buSzPct val="100000"/>
              <a:buChar char="•"/>
            </a:pPr>
            <a:r>
              <a:rPr lang="en-US" sz="2000" dirty="0">
                <a:solidFill>
                  <a:schemeClr val="tx1"/>
                </a:solidFill>
              </a:rPr>
              <a:t>Recursion: transaction searching</a:t>
            </a:r>
            <a:endParaRPr lang="en-US" sz="2000" dirty="0"/>
          </a:p>
          <a:p>
            <a:pPr marL="228600" indent="-228600">
              <a:spcAft>
                <a:spcPts val="1200"/>
              </a:spcAft>
              <a:buSzPct val="100000"/>
              <a:buChar char="•"/>
            </a:pPr>
            <a:r>
              <a:rPr lang="en-US" sz="2000" dirty="0">
                <a:solidFill>
                  <a:schemeClr val="tx1"/>
                </a:solidFill>
              </a:rPr>
              <a:t>Searching for a transaction by ID</a:t>
            </a:r>
            <a:endParaRPr lang="en-US" sz="2000" dirty="0"/>
          </a:p>
          <a:p>
            <a:pPr marL="228600" indent="-228600">
              <a:spcAft>
                <a:spcPts val="1200"/>
              </a:spcAft>
              <a:buSzPct val="100000"/>
              <a:buChar char="•"/>
            </a:pPr>
            <a:r>
              <a:rPr lang="en-US" sz="2000" dirty="0">
                <a:solidFill>
                  <a:schemeClr val="tx1"/>
                </a:solidFill>
              </a:rPr>
              <a:t>Traversal of transaction records</a:t>
            </a:r>
            <a:endParaRPr lang="en-US" sz="2000" dirty="0"/>
          </a:p>
        </p:txBody>
      </p:sp>
      <p:sp>
        <p:nvSpPr>
          <p:cNvPr id="6" name="CodeCard"/>
          <p:cNvSpPr/>
          <p:nvPr/>
        </p:nvSpPr>
        <p:spPr>
          <a:xfrm>
            <a:off x="7708392" y="2465435"/>
            <a:ext cx="3840480" cy="2247169"/>
          </a:xfrm>
          <a:prstGeom prst="roundRect">
            <a:avLst>
              <a:gd name="adj" fmla="val 4883"/>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7" name="Image 0" descr="Code snippet from the project"/>
          <p:cNvPicPr>
            <a:picLocks noChangeAspect="1"/>
          </p:cNvPicPr>
          <p:nvPr/>
        </p:nvPicPr>
        <p:blipFill>
          <a:blip r:embed="rId3"/>
          <a:stretch>
            <a:fillRect/>
          </a:stretch>
        </p:blipFill>
        <p:spPr>
          <a:xfrm>
            <a:off x="7708392" y="2602595"/>
            <a:ext cx="3840480" cy="1972849"/>
          </a:xfrm>
          <a:prstGeom prst="rect">
            <a:avLst/>
          </a:prstGeom>
        </p:spPr>
      </p:pic>
      <p:sp>
        <p:nvSpPr>
          <p:cNvPr id="8" name="Text 5"/>
          <p:cNvSpPr txBox="1"/>
          <p:nvPr/>
        </p:nvSpPr>
        <p:spPr>
          <a:xfrm>
            <a:off x="7708392" y="4849765"/>
            <a:ext cx="3840480" cy="274320"/>
          </a:xfrm>
          <a:prstGeom prst="rect">
            <a:avLst/>
          </a:prstGeom>
          <a:noFill/>
          <a:ln/>
        </p:spPr>
        <p:txBody>
          <a:bodyPr wrap="square" lIns="0" tIns="0" rIns="0" bIns="0" rtlCol="0" anchor="ctr"/>
          <a:lstStyle/>
          <a:p>
            <a:pPr marL="0" indent="0" algn="ctr">
              <a:buNone/>
            </a:pPr>
            <a:r>
              <a:rPr lang="en-US" sz="1200" dirty="0">
                <a:solidFill>
                  <a:schemeClr val="accent5"/>
                </a:solidFill>
              </a:rPr>
              <a:t>Used in this project</a:t>
            </a:r>
            <a:endParaRPr lang="en-US" sz="1200" dirty="0"/>
          </a:p>
        </p:txBody>
      </p:sp>
      <p:sp>
        <p:nvSpPr>
          <p:cNvPr id="9" name="Shape 6"/>
          <p:cNvSpPr/>
          <p:nvPr/>
        </p:nvSpPr>
        <p:spPr>
          <a:xfrm>
            <a:off x="10744200" y="1737360"/>
            <a:ext cx="9144" cy="9144"/>
          </a:xfrm>
          <a:prstGeom prst="ellipse">
            <a:avLst/>
          </a:prstGeom>
          <a:solidFill>
            <a:srgbClr val="FFFFFF"/>
          </a:solidFill>
          <a:ln w="12700">
            <a:solidFill>
              <a:srgbClr val="FFFFFF"/>
            </a:solidFill>
            <a:prstDash val="solid"/>
          </a:ln>
        </p:spPr>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COURSE OUTCOME 4 OF 6</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CO 4  ·  Object-Oriented Programming</a:t>
            </a:r>
            <a:endParaRPr lang="en-US" sz="3600" dirty="0"/>
          </a:p>
        </p:txBody>
      </p:sp>
      <p:sp>
        <p:nvSpPr>
          <p:cNvPr id="4" name="TopicsCard"/>
          <p:cNvSpPr/>
          <p:nvPr/>
        </p:nvSpPr>
        <p:spPr>
          <a:xfrm>
            <a:off x="640080" y="1600200"/>
            <a:ext cx="676656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Text 3"/>
          <p:cNvSpPr txBox="1"/>
          <p:nvPr/>
        </p:nvSpPr>
        <p:spPr>
          <a:xfrm>
            <a:off x="960120" y="1828800"/>
            <a:ext cx="6172200" cy="4069080"/>
          </a:xfrm>
          <a:prstGeom prst="rect">
            <a:avLst/>
          </a:prstGeom>
          <a:noFill/>
          <a:ln/>
        </p:spPr>
        <p:txBody>
          <a:bodyPr wrap="square" lIns="0" tIns="0" rIns="0" bIns="0" rtlCol="0" anchor="ctr"/>
          <a:lstStyle/>
          <a:p>
            <a:pPr marL="228600" indent="-228600">
              <a:spcAft>
                <a:spcPts val="600"/>
              </a:spcAft>
              <a:buSzPct val="100000"/>
              <a:buChar char="•"/>
            </a:pPr>
            <a:r>
              <a:rPr lang="en-US" sz="1500" dirty="0">
                <a:solidFill>
                  <a:schemeClr val="tx1"/>
                </a:solidFill>
              </a:rPr>
              <a:t>Classes and objects</a:t>
            </a:r>
            <a:endParaRPr lang="en-US" sz="1500" dirty="0"/>
          </a:p>
          <a:p>
            <a:pPr marL="228600" indent="-228600">
              <a:spcAft>
                <a:spcPts val="600"/>
              </a:spcAft>
              <a:buSzPct val="100000"/>
              <a:buChar char="•"/>
            </a:pPr>
            <a:r>
              <a:rPr lang="en-US" sz="1500" dirty="0">
                <a:solidFill>
                  <a:schemeClr val="tx1"/>
                </a:solidFill>
              </a:rPr>
              <a:t>Object creation using new</a:t>
            </a:r>
            <a:endParaRPr lang="en-US" sz="1500" dirty="0"/>
          </a:p>
          <a:p>
            <a:pPr marL="228600" indent="-228600">
              <a:spcAft>
                <a:spcPts val="600"/>
              </a:spcAft>
              <a:buSzPct val="100000"/>
              <a:buChar char="•"/>
            </a:pPr>
            <a:r>
              <a:rPr lang="en-US" sz="1500" dirty="0">
                <a:solidFill>
                  <a:schemeClr val="tx1"/>
                </a:solidFill>
              </a:rPr>
              <a:t>Parameterized constructors</a:t>
            </a:r>
            <a:endParaRPr lang="en-US" sz="1500" dirty="0"/>
          </a:p>
          <a:p>
            <a:pPr marL="228600" indent="-228600">
              <a:spcAft>
                <a:spcPts val="600"/>
              </a:spcAft>
              <a:buSzPct val="100000"/>
              <a:buChar char="•"/>
            </a:pPr>
            <a:r>
              <a:rPr lang="en-US" sz="1500" dirty="0">
                <a:solidFill>
                  <a:schemeClr val="tx1"/>
                </a:solidFill>
              </a:rPr>
              <a:t>Encapsulation using private fields</a:t>
            </a:r>
            <a:endParaRPr lang="en-US" sz="1500" dirty="0"/>
          </a:p>
          <a:p>
            <a:pPr marL="228600" indent="-228600">
              <a:spcAft>
                <a:spcPts val="600"/>
              </a:spcAft>
              <a:buSzPct val="100000"/>
              <a:buChar char="•"/>
            </a:pPr>
            <a:r>
              <a:rPr lang="en-US" sz="1500" dirty="0">
                <a:solidFill>
                  <a:schemeClr val="tx1"/>
                </a:solidFill>
              </a:rPr>
              <a:t>Accessor methods (getters)</a:t>
            </a:r>
            <a:endParaRPr lang="en-US" sz="1500" dirty="0"/>
          </a:p>
          <a:p>
            <a:pPr marL="228600" indent="-228600">
              <a:spcAft>
                <a:spcPts val="600"/>
              </a:spcAft>
              <a:buSzPct val="100000"/>
              <a:buChar char="•"/>
            </a:pPr>
            <a:r>
              <a:rPr lang="en-US" sz="1500" dirty="0">
                <a:solidFill>
                  <a:schemeClr val="tx1"/>
                </a:solidFill>
              </a:rPr>
              <a:t>Instance variables</a:t>
            </a:r>
            <a:endParaRPr lang="en-US" sz="1500" dirty="0"/>
          </a:p>
          <a:p>
            <a:pPr marL="228600" indent="-228600">
              <a:spcAft>
                <a:spcPts val="600"/>
              </a:spcAft>
              <a:buSzPct val="100000"/>
              <a:buChar char="•"/>
            </a:pPr>
            <a:r>
              <a:rPr lang="en-US" sz="1500" dirty="0">
                <a:solidFill>
                  <a:schemeClr val="tx1"/>
                </a:solidFill>
              </a:rPr>
              <a:t>Constants using static final</a:t>
            </a:r>
            <a:endParaRPr lang="en-US" sz="1500" dirty="0"/>
          </a:p>
          <a:p>
            <a:pPr marL="228600" indent="-228600">
              <a:spcAft>
                <a:spcPts val="600"/>
              </a:spcAft>
              <a:buSzPct val="100000"/>
              <a:buChar char="•"/>
            </a:pPr>
            <a:r>
              <a:rPr lang="en-US" sz="1500" dirty="0">
                <a:solidFill>
                  <a:schemeClr val="tx1"/>
                </a:solidFill>
              </a:rPr>
              <a:t>this reference</a:t>
            </a:r>
            <a:endParaRPr lang="en-US" sz="1500" dirty="0"/>
          </a:p>
          <a:p>
            <a:pPr marL="228600" indent="-228600">
              <a:spcAft>
                <a:spcPts val="600"/>
              </a:spcAft>
              <a:buSzPct val="100000"/>
              <a:buChar char="•"/>
            </a:pPr>
            <a:r>
              <a:rPr lang="en-US" sz="1500" dirty="0">
                <a:solidFill>
                  <a:schemeClr val="tx1"/>
                </a:solidFill>
              </a:rPr>
              <a:t>toString() method</a:t>
            </a:r>
            <a:endParaRPr lang="en-US" sz="1500" dirty="0"/>
          </a:p>
          <a:p>
            <a:pPr marL="228600" indent="-228600">
              <a:spcAft>
                <a:spcPts val="600"/>
              </a:spcAft>
              <a:buSzPct val="100000"/>
              <a:buChar char="•"/>
            </a:pPr>
            <a:r>
              <a:rPr lang="en-US" sz="1500" dirty="0">
                <a:solidFill>
                  <a:schemeClr val="tx1"/>
                </a:solidFill>
              </a:rPr>
              <a:t>Interface and method overriding: toString(), compareTo()</a:t>
            </a:r>
            <a:endParaRPr lang="en-US" sz="1500" dirty="0"/>
          </a:p>
          <a:p>
            <a:pPr marL="228600" indent="-228600">
              <a:spcAft>
                <a:spcPts val="600"/>
              </a:spcAft>
              <a:buSzPct val="100000"/>
              <a:buChar char="•"/>
            </a:pPr>
            <a:r>
              <a:rPr lang="en-US" sz="1500" dirty="0">
                <a:solidFill>
                  <a:schemeClr val="tx1"/>
                </a:solidFill>
              </a:rPr>
              <a:t>Exception handling using try-catch</a:t>
            </a:r>
            <a:endParaRPr lang="en-US" sz="1500" dirty="0"/>
          </a:p>
          <a:p>
            <a:pPr marL="228600" indent="-228600">
              <a:spcAft>
                <a:spcPts val="600"/>
              </a:spcAft>
              <a:buSzPct val="100000"/>
              <a:buChar char="•"/>
            </a:pPr>
            <a:r>
              <a:rPr lang="en-US" sz="1500" dirty="0">
                <a:solidFill>
                  <a:schemeClr val="tx1"/>
                </a:solidFill>
              </a:rPr>
              <a:t>NumberFormatException, IOException</a:t>
            </a:r>
            <a:endParaRPr lang="en-US" sz="1500" dirty="0"/>
          </a:p>
        </p:txBody>
      </p:sp>
      <p:sp>
        <p:nvSpPr>
          <p:cNvPr id="6" name="CodeCard"/>
          <p:cNvSpPr/>
          <p:nvPr/>
        </p:nvSpPr>
        <p:spPr>
          <a:xfrm>
            <a:off x="7708392" y="2007432"/>
            <a:ext cx="3840480" cy="3163177"/>
          </a:xfrm>
          <a:prstGeom prst="roundRect">
            <a:avLst>
              <a:gd name="adj" fmla="val 3469"/>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7" name="Image 0" descr="Code snippet from the project"/>
          <p:cNvPicPr>
            <a:picLocks noChangeAspect="1"/>
          </p:cNvPicPr>
          <p:nvPr/>
        </p:nvPicPr>
        <p:blipFill>
          <a:blip r:embed="rId3"/>
          <a:stretch>
            <a:fillRect/>
          </a:stretch>
        </p:blipFill>
        <p:spPr>
          <a:xfrm>
            <a:off x="7708392" y="2144592"/>
            <a:ext cx="3840480" cy="2888857"/>
          </a:xfrm>
          <a:prstGeom prst="rect">
            <a:avLst/>
          </a:prstGeom>
        </p:spPr>
      </p:pic>
      <p:sp>
        <p:nvSpPr>
          <p:cNvPr id="8" name="Text 5"/>
          <p:cNvSpPr txBox="1"/>
          <p:nvPr/>
        </p:nvSpPr>
        <p:spPr>
          <a:xfrm>
            <a:off x="7708392" y="5307768"/>
            <a:ext cx="3840480" cy="274320"/>
          </a:xfrm>
          <a:prstGeom prst="rect">
            <a:avLst/>
          </a:prstGeom>
          <a:noFill/>
          <a:ln/>
        </p:spPr>
        <p:txBody>
          <a:bodyPr wrap="square" lIns="0" tIns="0" rIns="0" bIns="0" rtlCol="0" anchor="ctr"/>
          <a:lstStyle/>
          <a:p>
            <a:pPr marL="0" indent="0" algn="ctr">
              <a:buNone/>
            </a:pPr>
            <a:r>
              <a:rPr lang="en-US" sz="1200" dirty="0">
                <a:solidFill>
                  <a:schemeClr val="accent5"/>
                </a:solidFill>
              </a:rPr>
              <a:t>Used in this project</a:t>
            </a:r>
            <a:endParaRPr lang="en-US" sz="1200" dirty="0"/>
          </a:p>
        </p:txBody>
      </p:sp>
      <p:sp>
        <p:nvSpPr>
          <p:cNvPr id="9" name="Shape 6"/>
          <p:cNvSpPr/>
          <p:nvPr/>
        </p:nvSpPr>
        <p:spPr>
          <a:xfrm>
            <a:off x="10744200" y="1737360"/>
            <a:ext cx="9144" cy="9144"/>
          </a:xfrm>
          <a:prstGeom prst="ellipse">
            <a:avLst/>
          </a:prstGeom>
          <a:solidFill>
            <a:srgbClr val="FFFFFF"/>
          </a:solidFill>
          <a:ln w="12700">
            <a:solidFill>
              <a:srgbClr val="FFFFFF"/>
            </a:solidFill>
            <a:prstDash val="solid"/>
          </a:ln>
        </p:spPr>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COURSE OUTCOME 5 OF 6</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CO 5  ·  Strings &amp; File Handling</a:t>
            </a:r>
            <a:endParaRPr lang="en-US" sz="3600" dirty="0"/>
          </a:p>
        </p:txBody>
      </p:sp>
      <p:sp>
        <p:nvSpPr>
          <p:cNvPr id="4" name="TopicsCard"/>
          <p:cNvSpPr/>
          <p:nvPr/>
        </p:nvSpPr>
        <p:spPr>
          <a:xfrm>
            <a:off x="640080" y="1600200"/>
            <a:ext cx="676656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Text 3"/>
          <p:cNvSpPr txBox="1"/>
          <p:nvPr/>
        </p:nvSpPr>
        <p:spPr>
          <a:xfrm>
            <a:off x="960120" y="1828800"/>
            <a:ext cx="6172200" cy="4069080"/>
          </a:xfrm>
          <a:prstGeom prst="rect">
            <a:avLst/>
          </a:prstGeom>
          <a:noFill/>
          <a:ln/>
        </p:spPr>
        <p:txBody>
          <a:bodyPr wrap="square" lIns="0" tIns="0" rIns="0" bIns="0" rtlCol="0" anchor="ctr"/>
          <a:lstStyle/>
          <a:p>
            <a:pPr marL="228600" indent="-228600">
              <a:spcAft>
                <a:spcPts val="900"/>
              </a:spcAft>
              <a:buSzPct val="100000"/>
              <a:buChar char="•"/>
            </a:pPr>
            <a:r>
              <a:rPr lang="en-US" sz="1700" dirty="0">
                <a:solidFill>
                  <a:schemeClr val="tx1"/>
                </a:solidFill>
              </a:rPr>
              <a:t>String creation and manipulation</a:t>
            </a:r>
            <a:endParaRPr lang="en-US" sz="1700" dirty="0"/>
          </a:p>
          <a:p>
            <a:pPr marL="228600" indent="-228600">
              <a:spcAft>
                <a:spcPts val="900"/>
              </a:spcAft>
              <a:buSzPct val="100000"/>
              <a:buChar char="•"/>
            </a:pPr>
            <a:r>
              <a:rPr lang="en-US" sz="1700" dirty="0">
                <a:solidFill>
                  <a:schemeClr val="tx1"/>
                </a:solidFill>
              </a:rPr>
              <a:t>trim(), isEmpty() and append()</a:t>
            </a:r>
            <a:endParaRPr lang="en-US" sz="1700" dirty="0"/>
          </a:p>
          <a:p>
            <a:pPr marL="228600" indent="-228600">
              <a:spcAft>
                <a:spcPts val="900"/>
              </a:spcAft>
              <a:buSzPct val="100000"/>
              <a:buChar char="•"/>
            </a:pPr>
            <a:r>
              <a:rPr lang="en-US" sz="1700" dirty="0">
                <a:solidFill>
                  <a:schemeClr val="tx1"/>
                </a:solidFill>
              </a:rPr>
              <a:t>Mutable strings using StringBuilder</a:t>
            </a:r>
            <a:endParaRPr lang="en-US" sz="1700" dirty="0"/>
          </a:p>
          <a:p>
            <a:pPr marL="228600" indent="-228600">
              <a:spcAft>
                <a:spcPts val="900"/>
              </a:spcAft>
              <a:buSzPct val="100000"/>
              <a:buChar char="•"/>
            </a:pPr>
            <a:r>
              <a:rPr lang="en-US" sz="1700" dirty="0">
                <a:solidFill>
                  <a:schemeClr val="tx1"/>
                </a:solidFill>
              </a:rPr>
              <a:t>Sorting using Collections.sort()</a:t>
            </a:r>
            <a:endParaRPr lang="en-US" sz="1700" dirty="0"/>
          </a:p>
          <a:p>
            <a:pPr marL="228600" indent="-228600">
              <a:spcAft>
                <a:spcPts val="900"/>
              </a:spcAft>
              <a:buSzPct val="100000"/>
              <a:buChar char="•"/>
            </a:pPr>
            <a:r>
              <a:rPr lang="en-US" sz="1700" dirty="0">
                <a:solidFill>
                  <a:schemeClr val="tx1"/>
                </a:solidFill>
              </a:rPr>
              <a:t>Comparator using Comparator.comparingDouble()</a:t>
            </a:r>
            <a:endParaRPr lang="en-US" sz="1700" dirty="0"/>
          </a:p>
          <a:p>
            <a:pPr marL="228600" indent="-228600">
              <a:spcAft>
                <a:spcPts val="900"/>
              </a:spcAft>
              <a:buSzPct val="100000"/>
              <a:buChar char="•"/>
            </a:pPr>
            <a:r>
              <a:rPr lang="en-US" sz="1700" dirty="0">
                <a:solidFill>
                  <a:schemeClr val="tx1"/>
                </a:solidFill>
              </a:rPr>
              <a:t>compareTo()</a:t>
            </a:r>
            <a:endParaRPr lang="en-US" sz="1700" dirty="0"/>
          </a:p>
          <a:p>
            <a:pPr marL="228600" indent="-228600">
              <a:spcAft>
                <a:spcPts val="900"/>
              </a:spcAft>
              <a:buSzPct val="100000"/>
              <a:buChar char="•"/>
            </a:pPr>
            <a:r>
              <a:rPr lang="en-US" sz="1700" dirty="0">
                <a:solidFill>
                  <a:schemeClr val="tx1"/>
                </a:solidFill>
              </a:rPr>
              <a:t>File paths using Path.of()</a:t>
            </a:r>
            <a:endParaRPr lang="en-US" sz="1700" dirty="0"/>
          </a:p>
          <a:p>
            <a:pPr marL="228600" indent="-228600">
              <a:spcAft>
                <a:spcPts val="900"/>
              </a:spcAft>
              <a:buSzPct val="100000"/>
              <a:buChar char="•"/>
            </a:pPr>
            <a:r>
              <a:rPr lang="en-US" sz="1700" dirty="0">
                <a:solidFill>
                  <a:schemeClr val="tx1"/>
                </a:solidFill>
              </a:rPr>
              <a:t>File options: CREATE, WRITE, READ, DELETE</a:t>
            </a:r>
            <a:endParaRPr lang="en-US" sz="1700" dirty="0"/>
          </a:p>
          <a:p>
            <a:pPr marL="228600" indent="-228600">
              <a:spcAft>
                <a:spcPts val="900"/>
              </a:spcAft>
              <a:buSzPct val="100000"/>
              <a:buChar char="•"/>
            </a:pPr>
            <a:r>
              <a:rPr lang="en-US" sz="1700" dirty="0">
                <a:solidFill>
                  <a:schemeClr val="tx1"/>
                </a:solidFill>
              </a:rPr>
              <a:t>Exception handling during file operations</a:t>
            </a:r>
            <a:endParaRPr lang="en-US" sz="1700" dirty="0"/>
          </a:p>
        </p:txBody>
      </p:sp>
      <p:sp>
        <p:nvSpPr>
          <p:cNvPr id="6" name="CodeCard"/>
          <p:cNvSpPr/>
          <p:nvPr/>
        </p:nvSpPr>
        <p:spPr>
          <a:xfrm>
            <a:off x="7708392" y="1964757"/>
            <a:ext cx="3840480" cy="3248526"/>
          </a:xfrm>
          <a:prstGeom prst="roundRect">
            <a:avLst>
              <a:gd name="adj" fmla="val 3378"/>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7" name="Image 0" descr="Code snippet from the project"/>
          <p:cNvPicPr>
            <a:picLocks noChangeAspect="1"/>
          </p:cNvPicPr>
          <p:nvPr/>
        </p:nvPicPr>
        <p:blipFill>
          <a:blip r:embed="rId3"/>
          <a:stretch>
            <a:fillRect/>
          </a:stretch>
        </p:blipFill>
        <p:spPr>
          <a:xfrm>
            <a:off x="7708392" y="2101917"/>
            <a:ext cx="3840480" cy="2974206"/>
          </a:xfrm>
          <a:prstGeom prst="rect">
            <a:avLst/>
          </a:prstGeom>
        </p:spPr>
      </p:pic>
      <p:sp>
        <p:nvSpPr>
          <p:cNvPr id="8" name="Text 5"/>
          <p:cNvSpPr txBox="1"/>
          <p:nvPr/>
        </p:nvSpPr>
        <p:spPr>
          <a:xfrm>
            <a:off x="7708392" y="5350443"/>
            <a:ext cx="3840480" cy="274320"/>
          </a:xfrm>
          <a:prstGeom prst="rect">
            <a:avLst/>
          </a:prstGeom>
          <a:noFill/>
          <a:ln/>
        </p:spPr>
        <p:txBody>
          <a:bodyPr wrap="square" lIns="0" tIns="0" rIns="0" bIns="0" rtlCol="0" anchor="ctr"/>
          <a:lstStyle/>
          <a:p>
            <a:pPr marL="0" indent="0" algn="ctr">
              <a:buNone/>
            </a:pPr>
            <a:r>
              <a:rPr lang="en-US" sz="1200" dirty="0">
                <a:solidFill>
                  <a:schemeClr val="accent5"/>
                </a:solidFill>
              </a:rPr>
              <a:t>Used in this project</a:t>
            </a:r>
            <a:endParaRPr lang="en-US" sz="1200" dirty="0"/>
          </a:p>
        </p:txBody>
      </p:sp>
      <p:sp>
        <p:nvSpPr>
          <p:cNvPr id="9" name="Shape 6"/>
          <p:cNvSpPr/>
          <p:nvPr/>
        </p:nvSpPr>
        <p:spPr>
          <a:xfrm>
            <a:off x="10744200" y="1737360"/>
            <a:ext cx="9144" cy="9144"/>
          </a:xfrm>
          <a:prstGeom prst="ellipse">
            <a:avLst/>
          </a:prstGeom>
          <a:solidFill>
            <a:srgbClr val="FFFFFF"/>
          </a:solidFill>
          <a:ln w="12700">
            <a:solidFill>
              <a:srgbClr val="FFFFFF"/>
            </a:solidFill>
            <a:prstDash val="solid"/>
          </a:ln>
        </p:spPr>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COURSE OUTCOME 6 OF 6</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CO 6  ·  Collections &amp; Streams</a:t>
            </a:r>
            <a:endParaRPr lang="en-US" sz="3600" dirty="0"/>
          </a:p>
        </p:txBody>
      </p:sp>
      <p:sp>
        <p:nvSpPr>
          <p:cNvPr id="4" name="TopicsCard"/>
          <p:cNvSpPr/>
          <p:nvPr/>
        </p:nvSpPr>
        <p:spPr>
          <a:xfrm>
            <a:off x="640080" y="1600200"/>
            <a:ext cx="6766560" cy="4526280"/>
          </a:xfrm>
          <a:prstGeom prst="roundRect">
            <a:avLst>
              <a:gd name="adj" fmla="val 242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5" name="Text 3"/>
          <p:cNvSpPr txBox="1"/>
          <p:nvPr/>
        </p:nvSpPr>
        <p:spPr>
          <a:xfrm>
            <a:off x="960120" y="1828800"/>
            <a:ext cx="6172200" cy="4069080"/>
          </a:xfrm>
          <a:prstGeom prst="rect">
            <a:avLst/>
          </a:prstGeom>
          <a:noFill/>
          <a:ln/>
        </p:spPr>
        <p:txBody>
          <a:bodyPr wrap="square" lIns="0" tIns="0" rIns="0" bIns="0" rtlCol="0" anchor="ctr"/>
          <a:lstStyle/>
          <a:p>
            <a:pPr marL="228600" indent="-228600">
              <a:spcAft>
                <a:spcPts val="900"/>
              </a:spcAft>
              <a:buSzPct val="100000"/>
              <a:buChar char="•"/>
            </a:pPr>
            <a:r>
              <a:rPr lang="en-US" sz="1700" dirty="0">
                <a:solidFill>
                  <a:schemeClr val="tx1"/>
                </a:solidFill>
              </a:rPr>
              <a:t>List and ArrayList</a:t>
            </a:r>
            <a:endParaRPr lang="en-US" sz="1700" dirty="0"/>
          </a:p>
          <a:p>
            <a:pPr marL="228600" indent="-228600">
              <a:spcAft>
                <a:spcPts val="900"/>
              </a:spcAft>
              <a:buSzPct val="100000"/>
              <a:buChar char="•"/>
            </a:pPr>
            <a:r>
              <a:rPr lang="en-US" sz="1700" dirty="0">
                <a:solidFill>
                  <a:schemeClr val="tx1"/>
                </a:solidFill>
              </a:rPr>
              <a:t>Set and HashSet</a:t>
            </a:r>
            <a:endParaRPr lang="en-US" sz="1700" dirty="0"/>
          </a:p>
          <a:p>
            <a:pPr marL="228600" indent="-228600">
              <a:spcAft>
                <a:spcPts val="900"/>
              </a:spcAft>
              <a:buSzPct val="100000"/>
              <a:buChar char="•"/>
            </a:pPr>
            <a:r>
              <a:rPr lang="en-US" sz="1700" dirty="0">
                <a:solidFill>
                  <a:schemeClr val="tx1"/>
                </a:solidFill>
              </a:rPr>
              <a:t>Map and HashMap; ordered map using TreeMap</a:t>
            </a:r>
            <a:endParaRPr lang="en-US" sz="1700" dirty="0"/>
          </a:p>
          <a:p>
            <a:pPr marL="228600" indent="-228600">
              <a:spcAft>
                <a:spcPts val="900"/>
              </a:spcAft>
              <a:buSzPct val="100000"/>
              <a:buChar char="•"/>
            </a:pPr>
            <a:r>
              <a:rPr lang="en-US" sz="1700" dirty="0">
                <a:solidFill>
                  <a:schemeClr val="tx1"/>
                </a:solidFill>
              </a:rPr>
              <a:t>Enhanced for loop and collection iteration</a:t>
            </a:r>
            <a:endParaRPr lang="en-US" sz="1700" dirty="0"/>
          </a:p>
          <a:p>
            <a:pPr marL="228600" indent="-228600">
              <a:spcAft>
                <a:spcPts val="900"/>
              </a:spcAft>
              <a:buSzPct val="100000"/>
              <a:buChar char="•"/>
            </a:pPr>
            <a:r>
              <a:rPr lang="en-US" sz="1700" dirty="0">
                <a:solidFill>
                  <a:schemeClr val="tx1"/>
                </a:solidFill>
              </a:rPr>
              <a:t>Lambda expressions</a:t>
            </a:r>
            <a:endParaRPr lang="en-US" sz="1700" dirty="0"/>
          </a:p>
          <a:p>
            <a:pPr marL="228600" indent="-228600">
              <a:spcAft>
                <a:spcPts val="900"/>
              </a:spcAft>
              <a:buSzPct val="100000"/>
              <a:buChar char="•"/>
            </a:pPr>
            <a:r>
              <a:rPr lang="en-US" sz="1700" dirty="0">
                <a:solidFill>
                  <a:schemeClr val="tx1"/>
                </a:solidFill>
              </a:rPr>
              <a:t>Method references, such as System.out::println</a:t>
            </a:r>
            <a:endParaRPr lang="en-US" sz="1700" dirty="0"/>
          </a:p>
          <a:p>
            <a:pPr marL="228600" indent="-228600">
              <a:spcAft>
                <a:spcPts val="900"/>
              </a:spcAft>
              <a:buSzPct val="100000"/>
              <a:buChar char="•"/>
            </a:pPr>
            <a:r>
              <a:rPr lang="en-US" sz="1700" dirty="0">
                <a:solidFill>
                  <a:schemeClr val="tx1"/>
                </a:solidFill>
              </a:rPr>
              <a:t>Functional interface: Predicate</a:t>
            </a:r>
            <a:endParaRPr lang="en-US" sz="1700" dirty="0"/>
          </a:p>
          <a:p>
            <a:pPr marL="228600" indent="-228600">
              <a:spcAft>
                <a:spcPts val="900"/>
              </a:spcAft>
              <a:buSzPct val="100000"/>
              <a:buChar char="•"/>
            </a:pPr>
            <a:r>
              <a:rPr lang="en-US" sz="1700" dirty="0">
                <a:solidFill>
                  <a:schemeClr val="tx1"/>
                </a:solidFill>
              </a:rPr>
              <a:t>Stream operations: filter(), mapToDouble(), sorted(), count(), sum(), forEach()</a:t>
            </a:r>
            <a:endParaRPr lang="en-US" sz="1700" dirty="0"/>
          </a:p>
          <a:p>
            <a:pPr marL="228600" indent="-228600">
              <a:spcAft>
                <a:spcPts val="900"/>
              </a:spcAft>
              <a:buSzPct val="100000"/>
              <a:buChar char="•"/>
            </a:pPr>
            <a:r>
              <a:rPr lang="en-US" sz="1700" dirty="0">
                <a:solidFill>
                  <a:schemeClr val="tx1"/>
                </a:solidFill>
              </a:rPr>
              <a:t>Comparator for sorting transactions</a:t>
            </a:r>
            <a:endParaRPr lang="en-US" sz="1700" dirty="0"/>
          </a:p>
          <a:p>
            <a:pPr marL="228600" indent="-228600">
              <a:spcAft>
                <a:spcPts val="900"/>
              </a:spcAft>
              <a:buSzPct val="100000"/>
              <a:buChar char="•"/>
            </a:pPr>
            <a:r>
              <a:rPr lang="en-US" sz="1700" dirty="0">
                <a:solidFill>
                  <a:schemeClr val="tx1"/>
                </a:solidFill>
              </a:rPr>
              <a:t>Map operations using merge()</a:t>
            </a:r>
            <a:endParaRPr lang="en-US" sz="1700" dirty="0"/>
          </a:p>
        </p:txBody>
      </p:sp>
      <p:sp>
        <p:nvSpPr>
          <p:cNvPr id="6" name="CodeCard"/>
          <p:cNvSpPr/>
          <p:nvPr/>
        </p:nvSpPr>
        <p:spPr>
          <a:xfrm>
            <a:off x="7708392" y="2769250"/>
            <a:ext cx="3840480" cy="1639540"/>
          </a:xfrm>
          <a:prstGeom prst="roundRect">
            <a:avLst>
              <a:gd name="adj" fmla="val 6693"/>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7" name="Image 0" descr="Code snippet from the project"/>
          <p:cNvPicPr>
            <a:picLocks noChangeAspect="1"/>
          </p:cNvPicPr>
          <p:nvPr/>
        </p:nvPicPr>
        <p:blipFill>
          <a:blip r:embed="rId3"/>
          <a:stretch>
            <a:fillRect/>
          </a:stretch>
        </p:blipFill>
        <p:spPr>
          <a:xfrm>
            <a:off x="7708392" y="2906410"/>
            <a:ext cx="3840480" cy="1365220"/>
          </a:xfrm>
          <a:prstGeom prst="rect">
            <a:avLst/>
          </a:prstGeom>
        </p:spPr>
      </p:pic>
      <p:sp>
        <p:nvSpPr>
          <p:cNvPr id="8" name="Text 5"/>
          <p:cNvSpPr txBox="1"/>
          <p:nvPr/>
        </p:nvSpPr>
        <p:spPr>
          <a:xfrm>
            <a:off x="7708392" y="4545950"/>
            <a:ext cx="3840480" cy="274320"/>
          </a:xfrm>
          <a:prstGeom prst="rect">
            <a:avLst/>
          </a:prstGeom>
          <a:noFill/>
          <a:ln/>
        </p:spPr>
        <p:txBody>
          <a:bodyPr wrap="square" lIns="0" tIns="0" rIns="0" bIns="0" rtlCol="0" anchor="ctr"/>
          <a:lstStyle/>
          <a:p>
            <a:pPr marL="0" indent="0" algn="ctr">
              <a:buNone/>
            </a:pPr>
            <a:r>
              <a:rPr lang="en-US" sz="1200" dirty="0">
                <a:solidFill>
                  <a:schemeClr val="accent5"/>
                </a:solidFill>
              </a:rPr>
              <a:t>Used in this project</a:t>
            </a:r>
            <a:endParaRPr lang="en-US" sz="1200" dirty="0"/>
          </a:p>
        </p:txBody>
      </p:sp>
      <p:sp>
        <p:nvSpPr>
          <p:cNvPr id="9" name="Shape 6"/>
          <p:cNvSpPr/>
          <p:nvPr/>
        </p:nvSpPr>
        <p:spPr>
          <a:xfrm>
            <a:off x="10744200" y="1737360"/>
            <a:ext cx="9144" cy="9144"/>
          </a:xfrm>
          <a:prstGeom prst="ellipse">
            <a:avLst/>
          </a:prstGeom>
          <a:solidFill>
            <a:srgbClr val="FFFFFF"/>
          </a:solidFill>
          <a:ln w="12700">
            <a:solidFill>
              <a:srgbClr val="FFFFFF"/>
            </a:solidFill>
            <a:prstDash val="solid"/>
          </a:ln>
        </p:spPr>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rgbClr val="0E7C86"/>
                </a:solidFill>
              </a:rPr>
              <a:t>WRAP-UP</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Conclusion</a:t>
            </a:r>
            <a:endParaRPr lang="en-US" sz="3600" dirty="0"/>
          </a:p>
        </p:txBody>
      </p:sp>
      <p:sp>
        <p:nvSpPr>
          <p:cNvPr id="4" name="ConclusionCard"/>
          <p:cNvSpPr/>
          <p:nvPr/>
        </p:nvSpPr>
        <p:spPr>
          <a:xfrm>
            <a:off x="640080" y="1600200"/>
            <a:ext cx="3520440" cy="3200400"/>
          </a:xfrm>
          <a:prstGeom prst="roundRect">
            <a:avLst>
              <a:gd name="adj" fmla="val 3429"/>
            </a:avLst>
          </a:prstGeom>
          <a:solidFill>
            <a:srgbClr val="EEF3F8"/>
          </a:solidFill>
          <a:ln w="9525">
            <a:solidFill>
              <a:srgbClr val="D5DEEA"/>
            </a:solidFill>
            <a:prstDash val="solid"/>
          </a:ln>
        </p:spPr>
      </p:sp>
      <p:sp>
        <p:nvSpPr>
          <p:cNvPr id="5" name="IconCircle"/>
          <p:cNvSpPr/>
          <p:nvPr/>
        </p:nvSpPr>
        <p:spPr>
          <a:xfrm>
            <a:off x="914400" y="1874520"/>
            <a:ext cx="731520" cy="731520"/>
          </a:xfrm>
          <a:prstGeom prst="ellipse">
            <a:avLst/>
          </a:prstGeom>
          <a:solidFill>
            <a:srgbClr val="1FA37A"/>
          </a:solidFill>
          <a:ln w="12700">
            <a:solidFill>
              <a:srgbClr val="1FA37A"/>
            </a:solidFill>
            <a:prstDash val="solid"/>
          </a:ln>
        </p:spPr>
      </p:sp>
      <p:pic>
        <p:nvPicPr>
          <p:cNvPr id="6" name="Image 0" descr="icon"/>
          <p:cNvPicPr>
            <a:picLocks noChangeAspect="1"/>
          </p:cNvPicPr>
          <p:nvPr/>
        </p:nvPicPr>
        <p:blipFill>
          <a:blip r:embed="rId3"/>
          <a:stretch>
            <a:fillRect/>
          </a:stretch>
        </p:blipFill>
        <p:spPr>
          <a:xfrm>
            <a:off x="1111910" y="2072030"/>
            <a:ext cx="336499" cy="336499"/>
          </a:xfrm>
          <a:prstGeom prst="rect">
            <a:avLst/>
          </a:prstGeom>
        </p:spPr>
      </p:pic>
      <p:sp>
        <p:nvSpPr>
          <p:cNvPr id="7" name="Text 4"/>
          <p:cNvSpPr txBox="1"/>
          <p:nvPr/>
        </p:nvSpPr>
        <p:spPr>
          <a:xfrm>
            <a:off x="914400" y="2743200"/>
            <a:ext cx="301752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Record &amp; Track</a:t>
            </a:r>
            <a:endParaRPr lang="en-US" sz="2000" dirty="0"/>
          </a:p>
        </p:txBody>
      </p:sp>
      <p:sp>
        <p:nvSpPr>
          <p:cNvPr id="8" name="Text 5"/>
          <p:cNvSpPr txBox="1"/>
          <p:nvPr/>
        </p:nvSpPr>
        <p:spPr>
          <a:xfrm>
            <a:off x="914400" y="3200400"/>
            <a:ext cx="3017520" cy="1508760"/>
          </a:xfrm>
          <a:prstGeom prst="rect">
            <a:avLst/>
          </a:prstGeom>
          <a:noFill/>
          <a:ln/>
        </p:spPr>
        <p:txBody>
          <a:bodyPr wrap="square" lIns="0" tIns="0" rIns="0" bIns="0" rtlCol="0" anchor="t"/>
          <a:lstStyle/>
          <a:p>
            <a:pPr marL="0" indent="0">
              <a:buNone/>
            </a:pPr>
            <a:r>
              <a:rPr lang="en-US" sz="1400" dirty="0">
                <a:solidFill>
                  <a:srgbClr val="5B6B82"/>
                </a:solidFill>
              </a:rPr>
              <a:t>Maintains deposits and withdrawals with dates, payment methods and unique IDs from 101, with search by transaction ID.</a:t>
            </a:r>
            <a:endParaRPr lang="en-US" sz="1400" dirty="0"/>
          </a:p>
        </p:txBody>
      </p:sp>
      <p:sp>
        <p:nvSpPr>
          <p:cNvPr id="9" name="ConclusionCard"/>
          <p:cNvSpPr/>
          <p:nvPr/>
        </p:nvSpPr>
        <p:spPr>
          <a:xfrm>
            <a:off x="4343400" y="1600200"/>
            <a:ext cx="3520440" cy="3200400"/>
          </a:xfrm>
          <a:prstGeom prst="roundRect">
            <a:avLst>
              <a:gd name="adj" fmla="val 3429"/>
            </a:avLst>
          </a:prstGeom>
          <a:solidFill>
            <a:srgbClr val="EEF3F8"/>
          </a:solidFill>
          <a:ln w="9525">
            <a:solidFill>
              <a:srgbClr val="D5DEEA"/>
            </a:solidFill>
            <a:prstDash val="solid"/>
          </a:ln>
        </p:spPr>
      </p:sp>
      <p:sp>
        <p:nvSpPr>
          <p:cNvPr id="10" name="IconCircle"/>
          <p:cNvSpPr/>
          <p:nvPr/>
        </p:nvSpPr>
        <p:spPr>
          <a:xfrm>
            <a:off x="4617720" y="1874520"/>
            <a:ext cx="731520" cy="731520"/>
          </a:xfrm>
          <a:prstGeom prst="ellipse">
            <a:avLst/>
          </a:prstGeom>
          <a:solidFill>
            <a:srgbClr val="2F6FB3"/>
          </a:solidFill>
          <a:ln w="12700">
            <a:solidFill>
              <a:srgbClr val="2F6FB3"/>
            </a:solidFill>
            <a:prstDash val="solid"/>
          </a:ln>
        </p:spPr>
      </p:sp>
      <p:pic>
        <p:nvPicPr>
          <p:cNvPr id="11" name="Image 1" descr="icon"/>
          <p:cNvPicPr>
            <a:picLocks noChangeAspect="1"/>
          </p:cNvPicPr>
          <p:nvPr/>
        </p:nvPicPr>
        <p:blipFill>
          <a:blip r:embed="rId4"/>
          <a:stretch>
            <a:fillRect/>
          </a:stretch>
        </p:blipFill>
        <p:spPr>
          <a:xfrm>
            <a:off x="4815230" y="2072030"/>
            <a:ext cx="336499" cy="336499"/>
          </a:xfrm>
          <a:prstGeom prst="rect">
            <a:avLst/>
          </a:prstGeom>
        </p:spPr>
      </p:pic>
      <p:sp>
        <p:nvSpPr>
          <p:cNvPr id="12" name="Text 8"/>
          <p:cNvSpPr txBox="1"/>
          <p:nvPr/>
        </p:nvSpPr>
        <p:spPr>
          <a:xfrm>
            <a:off x="4617720" y="2743200"/>
            <a:ext cx="301752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Automatic &amp; Safe</a:t>
            </a:r>
            <a:endParaRPr lang="en-US" sz="2000" dirty="0"/>
          </a:p>
        </p:txBody>
      </p:sp>
      <p:sp>
        <p:nvSpPr>
          <p:cNvPr id="13" name="Text 9"/>
          <p:cNvSpPr txBox="1"/>
          <p:nvPr/>
        </p:nvSpPr>
        <p:spPr>
          <a:xfrm>
            <a:off x="4617720" y="3200400"/>
            <a:ext cx="3017520" cy="1508760"/>
          </a:xfrm>
          <a:prstGeom prst="rect">
            <a:avLst/>
          </a:prstGeom>
          <a:noFill/>
          <a:ln/>
        </p:spPr>
        <p:txBody>
          <a:bodyPr wrap="square" lIns="0" tIns="0" rIns="0" bIns="0" rtlCol="0" anchor="t"/>
          <a:lstStyle/>
          <a:p>
            <a:pPr marL="0" indent="0">
              <a:buNone/>
            </a:pPr>
            <a:r>
              <a:rPr lang="en-US" sz="1400" dirty="0">
                <a:solidFill>
                  <a:srgbClr val="5B6B82"/>
                </a:solidFill>
              </a:rPr>
              <a:t>Updates the balance after every successful transaction and blocks withdrawals when funds are insufficient.</a:t>
            </a:r>
            <a:endParaRPr lang="en-US" sz="1400" dirty="0"/>
          </a:p>
        </p:txBody>
      </p:sp>
      <p:sp>
        <p:nvSpPr>
          <p:cNvPr id="14" name="ConclusionCard"/>
          <p:cNvSpPr/>
          <p:nvPr/>
        </p:nvSpPr>
        <p:spPr>
          <a:xfrm>
            <a:off x="8046720" y="1600200"/>
            <a:ext cx="3520440" cy="3200400"/>
          </a:xfrm>
          <a:prstGeom prst="roundRect">
            <a:avLst>
              <a:gd name="adj" fmla="val 3429"/>
            </a:avLst>
          </a:prstGeom>
          <a:solidFill>
            <a:srgbClr val="EEF3F8"/>
          </a:solidFill>
          <a:ln w="9525">
            <a:solidFill>
              <a:srgbClr val="D5DEEA"/>
            </a:solidFill>
            <a:prstDash val="solid"/>
          </a:ln>
        </p:spPr>
      </p:sp>
      <p:sp>
        <p:nvSpPr>
          <p:cNvPr id="15" name="IconCircle"/>
          <p:cNvSpPr/>
          <p:nvPr/>
        </p:nvSpPr>
        <p:spPr>
          <a:xfrm>
            <a:off x="8321040" y="1874520"/>
            <a:ext cx="731520" cy="731520"/>
          </a:xfrm>
          <a:prstGeom prst="ellipse">
            <a:avLst/>
          </a:prstGeom>
          <a:solidFill>
            <a:srgbClr val="C9A227"/>
          </a:solidFill>
          <a:ln w="12700">
            <a:solidFill>
              <a:srgbClr val="C9A227"/>
            </a:solidFill>
            <a:prstDash val="solid"/>
          </a:ln>
        </p:spPr>
      </p:sp>
      <p:pic>
        <p:nvPicPr>
          <p:cNvPr id="16" name="Image 2" descr="icon"/>
          <p:cNvPicPr>
            <a:picLocks noChangeAspect="1"/>
          </p:cNvPicPr>
          <p:nvPr/>
        </p:nvPicPr>
        <p:blipFill>
          <a:blip r:embed="rId5"/>
          <a:stretch>
            <a:fillRect/>
          </a:stretch>
        </p:blipFill>
        <p:spPr>
          <a:xfrm>
            <a:off x="8518550" y="2072030"/>
            <a:ext cx="336499" cy="336499"/>
          </a:xfrm>
          <a:prstGeom prst="rect">
            <a:avLst/>
          </a:prstGeom>
        </p:spPr>
      </p:pic>
      <p:sp>
        <p:nvSpPr>
          <p:cNvPr id="17" name="Text 12"/>
          <p:cNvSpPr txBox="1"/>
          <p:nvPr/>
        </p:nvSpPr>
        <p:spPr>
          <a:xfrm>
            <a:off x="8321040" y="2743200"/>
            <a:ext cx="301752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Report-Ready</a:t>
            </a:r>
            <a:endParaRPr lang="en-US" sz="2000" dirty="0"/>
          </a:p>
        </p:txBody>
      </p:sp>
      <p:sp>
        <p:nvSpPr>
          <p:cNvPr id="18" name="Text 13"/>
          <p:cNvSpPr txBox="1"/>
          <p:nvPr/>
        </p:nvSpPr>
        <p:spPr>
          <a:xfrm>
            <a:off x="8321040" y="3200400"/>
            <a:ext cx="3017520" cy="1508760"/>
          </a:xfrm>
          <a:prstGeom prst="rect">
            <a:avLst/>
          </a:prstGeom>
          <a:noFill/>
          <a:ln/>
        </p:spPr>
        <p:txBody>
          <a:bodyPr wrap="square" lIns="0" tIns="0" rIns="0" bIns="0" rtlCol="0" anchor="t"/>
          <a:lstStyle/>
          <a:p>
            <a:pPr marL="0" indent="0">
              <a:buNone/>
            </a:pPr>
            <a:r>
              <a:rPr lang="en-US" sz="1400" dirty="0">
                <a:solidFill>
                  <a:srgbClr val="5B6B82"/>
                </a:solidFill>
              </a:rPr>
              <a:t>Calculates totals, organizes records and generates a formatted statement saved as a text file.</a:t>
            </a:r>
            <a:endParaRPr lang="en-US" sz="1400" dirty="0"/>
          </a:p>
        </p:txBody>
      </p:sp>
      <p:sp>
        <p:nvSpPr>
          <p:cNvPr id="19" name="TakeawayBar"/>
          <p:cNvSpPr/>
          <p:nvPr/>
        </p:nvSpPr>
        <p:spPr>
          <a:xfrm>
            <a:off x="640080" y="5074920"/>
            <a:ext cx="10908792" cy="1051560"/>
          </a:xfrm>
          <a:prstGeom prst="roundRect">
            <a:avLst>
              <a:gd name="adj" fmla="val 10435"/>
            </a:avLst>
          </a:prstGeom>
          <a:solidFill>
            <a:srgbClr val="E4F5EE"/>
          </a:solidFill>
          <a:ln w="12700">
            <a:solidFill>
              <a:srgbClr val="1FA37A"/>
            </a:solidFill>
            <a:prstDash val="solid"/>
          </a:ln>
        </p:spPr>
      </p:sp>
      <p:sp>
        <p:nvSpPr>
          <p:cNvPr id="20" name="Text 15"/>
          <p:cNvSpPr txBox="1"/>
          <p:nvPr/>
        </p:nvSpPr>
        <p:spPr>
          <a:xfrm>
            <a:off x="914400" y="5074920"/>
            <a:ext cx="10332720" cy="1051560"/>
          </a:xfrm>
          <a:prstGeom prst="rect">
            <a:avLst/>
          </a:prstGeom>
          <a:noFill/>
          <a:ln/>
        </p:spPr>
        <p:txBody>
          <a:bodyPr wrap="square" lIns="0" tIns="0" rIns="0" bIns="0" rtlCol="0" anchor="ctr"/>
          <a:lstStyle/>
          <a:p>
            <a:pPr marL="0" indent="0">
              <a:buNone/>
            </a:pPr>
            <a:r>
              <a:rPr lang="en-US" sz="1600" b="1" dirty="0">
                <a:solidFill>
                  <a:schemeClr val="tx1"/>
                </a:solidFill>
              </a:rPr>
              <a:t>A computerized ledger reduces manual calculation, improves record organization and makes personal financial tracking convenient and reliable — a practical demonstration of Java programming concepts.</a:t>
            </a:r>
            <a:endParaRPr lang="en-US" sz="16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82"/>
                </a:solidFill>
              </a:defRPr>
            </a:lvl1pPr>
          </a:lstStyle>
          <a:p>
            <a:pPr algn="r"/>
            <a:fld id="{F7021451-1387-4CA6-816F-3879F97B5CBC}" type="slidenum">
              <a:rPr lang="en-US" b="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SCREENSHOTS 1 OF 3</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Output: Deposits, Withdrawals &amp; Validation</a:t>
            </a:r>
            <a:endParaRPr lang="en-US" sz="3600" dirty="0"/>
          </a:p>
        </p:txBody>
      </p:sp>
      <p:sp>
        <p:nvSpPr>
          <p:cNvPr id="4" name="ShotFrame"/>
          <p:cNvSpPr/>
          <p:nvPr/>
        </p:nvSpPr>
        <p:spPr>
          <a:xfrm>
            <a:off x="603504" y="1609344"/>
            <a:ext cx="5136975" cy="4279392"/>
          </a:xfrm>
          <a:prstGeom prst="rect">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5" name="Image 0" descr="Program output screenshot"/>
          <p:cNvPicPr>
            <a:picLocks noChangeAspect="1"/>
          </p:cNvPicPr>
          <p:nvPr/>
        </p:nvPicPr>
        <p:blipFill>
          <a:blip r:embed="rId3"/>
          <a:stretch>
            <a:fillRect/>
          </a:stretch>
        </p:blipFill>
        <p:spPr>
          <a:xfrm>
            <a:off x="640080" y="1645920"/>
            <a:ext cx="5063823" cy="4206240"/>
          </a:xfrm>
          <a:prstGeom prst="rect">
            <a:avLst/>
          </a:prstGeom>
        </p:spPr>
      </p:pic>
      <p:sp>
        <p:nvSpPr>
          <p:cNvPr id="6" name="Text 3"/>
          <p:cNvSpPr txBox="1"/>
          <p:nvPr/>
        </p:nvSpPr>
        <p:spPr>
          <a:xfrm>
            <a:off x="457200" y="5943600"/>
            <a:ext cx="5429583" cy="320040"/>
          </a:xfrm>
          <a:prstGeom prst="rect">
            <a:avLst/>
          </a:prstGeom>
          <a:noFill/>
          <a:ln/>
        </p:spPr>
        <p:txBody>
          <a:bodyPr wrap="square" lIns="0" tIns="0" rIns="0" bIns="0" rtlCol="0" anchor="ctr"/>
          <a:lstStyle/>
          <a:p>
            <a:pPr marL="0" indent="0" algn="ctr">
              <a:buNone/>
            </a:pPr>
            <a:r>
              <a:rPr lang="en-US" sz="1300" b="1" dirty="0">
                <a:solidFill>
                  <a:schemeClr val="accent5"/>
                </a:solidFill>
              </a:rPr>
              <a:t>Deposits through the menu</a:t>
            </a:r>
            <a:endParaRPr lang="en-US" sz="1300" dirty="0"/>
          </a:p>
        </p:txBody>
      </p:sp>
      <p:sp>
        <p:nvSpPr>
          <p:cNvPr id="7" name="ShotFrame"/>
          <p:cNvSpPr/>
          <p:nvPr/>
        </p:nvSpPr>
        <p:spPr>
          <a:xfrm>
            <a:off x="6066445" y="1609344"/>
            <a:ext cx="2259242" cy="4279392"/>
          </a:xfrm>
          <a:prstGeom prst="rect">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8" name="Image 1" descr="Program output screenshot"/>
          <p:cNvPicPr>
            <a:picLocks noChangeAspect="1"/>
          </p:cNvPicPr>
          <p:nvPr/>
        </p:nvPicPr>
        <p:blipFill>
          <a:blip r:embed="rId4"/>
          <a:stretch>
            <a:fillRect/>
          </a:stretch>
        </p:blipFill>
        <p:spPr>
          <a:xfrm>
            <a:off x="6103021" y="1645920"/>
            <a:ext cx="2186090" cy="4206240"/>
          </a:xfrm>
          <a:prstGeom prst="rect">
            <a:avLst/>
          </a:prstGeom>
        </p:spPr>
      </p:pic>
      <p:sp>
        <p:nvSpPr>
          <p:cNvPr id="9" name="Text 5"/>
          <p:cNvSpPr txBox="1"/>
          <p:nvPr/>
        </p:nvSpPr>
        <p:spPr>
          <a:xfrm>
            <a:off x="5920141" y="5943600"/>
            <a:ext cx="2551850" cy="320040"/>
          </a:xfrm>
          <a:prstGeom prst="rect">
            <a:avLst/>
          </a:prstGeom>
          <a:noFill/>
          <a:ln/>
        </p:spPr>
        <p:txBody>
          <a:bodyPr wrap="square" lIns="0" tIns="0" rIns="0" bIns="0" rtlCol="0" anchor="ctr"/>
          <a:lstStyle/>
          <a:p>
            <a:pPr marL="0" indent="0" algn="ctr">
              <a:buNone/>
            </a:pPr>
            <a:r>
              <a:rPr lang="en-US" sz="1300" b="1" dirty="0">
                <a:solidFill>
                  <a:schemeClr val="accent5"/>
                </a:solidFill>
              </a:rPr>
              <a:t>Withdrawals with validation</a:t>
            </a:r>
            <a:endParaRPr lang="en-US" sz="1300" dirty="0"/>
          </a:p>
        </p:txBody>
      </p:sp>
      <p:sp>
        <p:nvSpPr>
          <p:cNvPr id="10" name="ShotFrame"/>
          <p:cNvSpPr/>
          <p:nvPr/>
        </p:nvSpPr>
        <p:spPr>
          <a:xfrm>
            <a:off x="8651654" y="1609344"/>
            <a:ext cx="2933794" cy="4279392"/>
          </a:xfrm>
          <a:prstGeom prst="rect">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11" name="Image 2" descr="Program output screenshot"/>
          <p:cNvPicPr>
            <a:picLocks noChangeAspect="1"/>
          </p:cNvPicPr>
          <p:nvPr/>
        </p:nvPicPr>
        <p:blipFill>
          <a:blip r:embed="rId5"/>
          <a:stretch>
            <a:fillRect/>
          </a:stretch>
        </p:blipFill>
        <p:spPr>
          <a:xfrm>
            <a:off x="8688230" y="1645920"/>
            <a:ext cx="2860642" cy="4206240"/>
          </a:xfrm>
          <a:prstGeom prst="rect">
            <a:avLst/>
          </a:prstGeom>
        </p:spPr>
      </p:pic>
      <p:sp>
        <p:nvSpPr>
          <p:cNvPr id="12" name="Text 7"/>
          <p:cNvSpPr txBox="1"/>
          <p:nvPr/>
        </p:nvSpPr>
        <p:spPr>
          <a:xfrm>
            <a:off x="8505350" y="5943600"/>
            <a:ext cx="3226402" cy="320040"/>
          </a:xfrm>
          <a:prstGeom prst="rect">
            <a:avLst/>
          </a:prstGeom>
          <a:noFill/>
          <a:ln/>
        </p:spPr>
        <p:txBody>
          <a:bodyPr wrap="square" lIns="0" tIns="0" rIns="0" bIns="0" rtlCol="0" anchor="ctr"/>
          <a:lstStyle/>
          <a:p>
            <a:pPr marL="0" indent="0" algn="ctr">
              <a:buNone/>
            </a:pPr>
            <a:r>
              <a:rPr lang="en-US" sz="1300" b="1" dirty="0">
                <a:solidFill>
                  <a:schemeClr val="accent5"/>
                </a:solidFill>
              </a:rPr>
              <a:t>Invalid input handled · balance check</a:t>
            </a:r>
            <a:endParaRPr lang="en-US" sz="13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SCREENSHOTS 2 OF 3</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Output: History, Search &amp; Summary</a:t>
            </a:r>
            <a:endParaRPr lang="en-US" sz="3600" dirty="0"/>
          </a:p>
        </p:txBody>
      </p:sp>
      <p:sp>
        <p:nvSpPr>
          <p:cNvPr id="4" name="ShotFrame"/>
          <p:cNvSpPr/>
          <p:nvPr/>
        </p:nvSpPr>
        <p:spPr>
          <a:xfrm>
            <a:off x="812732" y="1609344"/>
            <a:ext cx="5283755" cy="4279392"/>
          </a:xfrm>
          <a:prstGeom prst="rect">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5" name="Image 0" descr="Program output screenshot"/>
          <p:cNvPicPr>
            <a:picLocks noChangeAspect="1"/>
          </p:cNvPicPr>
          <p:nvPr/>
        </p:nvPicPr>
        <p:blipFill>
          <a:blip r:embed="rId3"/>
          <a:stretch>
            <a:fillRect/>
          </a:stretch>
        </p:blipFill>
        <p:spPr>
          <a:xfrm>
            <a:off x="849308" y="1645920"/>
            <a:ext cx="5210603" cy="4206240"/>
          </a:xfrm>
          <a:prstGeom prst="rect">
            <a:avLst/>
          </a:prstGeom>
        </p:spPr>
      </p:pic>
      <p:sp>
        <p:nvSpPr>
          <p:cNvPr id="6" name="Text 3"/>
          <p:cNvSpPr txBox="1"/>
          <p:nvPr/>
        </p:nvSpPr>
        <p:spPr>
          <a:xfrm>
            <a:off x="849308" y="5943600"/>
            <a:ext cx="5210603" cy="320040"/>
          </a:xfrm>
          <a:prstGeom prst="rect">
            <a:avLst/>
          </a:prstGeom>
          <a:noFill/>
          <a:ln/>
        </p:spPr>
        <p:txBody>
          <a:bodyPr wrap="square" lIns="0" tIns="0" rIns="0" bIns="0" rtlCol="0" anchor="ctr"/>
          <a:lstStyle/>
          <a:p>
            <a:pPr marL="0" indent="0" algn="ctr">
              <a:buNone/>
            </a:pPr>
            <a:r>
              <a:rPr lang="en-US" sz="1300" b="1" dirty="0">
                <a:solidFill>
                  <a:schemeClr val="accent5"/>
                </a:solidFill>
              </a:rPr>
              <a:t>Transaction history &amp; search by ID</a:t>
            </a:r>
            <a:endParaRPr lang="en-US" sz="1300" dirty="0"/>
          </a:p>
        </p:txBody>
      </p:sp>
      <p:sp>
        <p:nvSpPr>
          <p:cNvPr id="7" name="ShotFrame"/>
          <p:cNvSpPr/>
          <p:nvPr/>
        </p:nvSpPr>
        <p:spPr>
          <a:xfrm>
            <a:off x="6663415" y="1609344"/>
            <a:ext cx="4712805" cy="4279392"/>
          </a:xfrm>
          <a:prstGeom prst="rect">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8" name="Image 1" descr="Program output screenshot"/>
          <p:cNvPicPr>
            <a:picLocks noChangeAspect="1"/>
          </p:cNvPicPr>
          <p:nvPr/>
        </p:nvPicPr>
        <p:blipFill>
          <a:blip r:embed="rId4"/>
          <a:stretch>
            <a:fillRect/>
          </a:stretch>
        </p:blipFill>
        <p:spPr>
          <a:xfrm>
            <a:off x="6699991" y="1645920"/>
            <a:ext cx="4639653" cy="4206240"/>
          </a:xfrm>
          <a:prstGeom prst="rect">
            <a:avLst/>
          </a:prstGeom>
        </p:spPr>
      </p:pic>
      <p:sp>
        <p:nvSpPr>
          <p:cNvPr id="9" name="Text 5"/>
          <p:cNvSpPr txBox="1"/>
          <p:nvPr/>
        </p:nvSpPr>
        <p:spPr>
          <a:xfrm>
            <a:off x="6699991" y="5943600"/>
            <a:ext cx="4639653" cy="320040"/>
          </a:xfrm>
          <a:prstGeom prst="rect">
            <a:avLst/>
          </a:prstGeom>
          <a:noFill/>
          <a:ln/>
        </p:spPr>
        <p:txBody>
          <a:bodyPr wrap="square" lIns="0" tIns="0" rIns="0" bIns="0" rtlCol="0" anchor="ctr"/>
          <a:lstStyle/>
          <a:p>
            <a:pPr marL="0" indent="0" algn="ctr">
              <a:buNone/>
            </a:pPr>
            <a:r>
              <a:rPr lang="en-US" sz="1300" b="1" dirty="0">
                <a:solidFill>
                  <a:schemeClr val="accent5"/>
                </a:solidFill>
              </a:rPr>
              <a:t>Ledger summary &amp; statistics</a:t>
            </a:r>
            <a:endParaRPr lang="en-US" sz="13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SCREENSHOTS 3 OF 3</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Generated File: ledger_statement.txt</a:t>
            </a:r>
            <a:endParaRPr lang="en-US" sz="3600" dirty="0"/>
          </a:p>
        </p:txBody>
      </p:sp>
      <p:sp>
        <p:nvSpPr>
          <p:cNvPr id="4" name="ShotFrame"/>
          <p:cNvSpPr/>
          <p:nvPr/>
        </p:nvSpPr>
        <p:spPr>
          <a:xfrm>
            <a:off x="640080" y="1609344"/>
            <a:ext cx="4996491" cy="4370832"/>
          </a:xfrm>
          <a:prstGeom prst="rect">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5" name="Image 0" descr="Program output screenshot"/>
          <p:cNvPicPr>
            <a:picLocks noChangeAspect="1"/>
          </p:cNvPicPr>
          <p:nvPr/>
        </p:nvPicPr>
        <p:blipFill>
          <a:blip r:embed="rId3"/>
          <a:stretch>
            <a:fillRect/>
          </a:stretch>
        </p:blipFill>
        <p:spPr>
          <a:xfrm>
            <a:off x="676656" y="1645920"/>
            <a:ext cx="4923339" cy="4297680"/>
          </a:xfrm>
          <a:prstGeom prst="rect">
            <a:avLst/>
          </a:prstGeom>
        </p:spPr>
      </p:pic>
      <p:sp>
        <p:nvSpPr>
          <p:cNvPr id="6" name="FileCard"/>
          <p:cNvSpPr/>
          <p:nvPr/>
        </p:nvSpPr>
        <p:spPr>
          <a:xfrm>
            <a:off x="6148635" y="1645920"/>
            <a:ext cx="5400237" cy="2514600"/>
          </a:xfrm>
          <a:prstGeom prst="roundRect">
            <a:avLst>
              <a:gd name="adj" fmla="val 4364"/>
            </a:avLst>
          </a:prstGeom>
          <a:solidFill>
            <a:schemeClr val="bg2"/>
          </a:solidFill>
          <a:ln w="12700">
            <a:solidFill>
              <a:schemeClr val="bg2"/>
            </a:solidFill>
            <a:prstDash val="solid"/>
          </a:ln>
          <a:effectLst>
            <a:outerShdw blurRad="127000" dist="38100" dir="5400000" algn="bl" rotWithShape="0">
              <a:srgbClr val="0B1F3A">
                <a:alpha val="14000"/>
              </a:srgbClr>
            </a:outerShdw>
          </a:effectLst>
        </p:spPr>
      </p:sp>
      <p:sp>
        <p:nvSpPr>
          <p:cNvPr id="7" name="Text 4"/>
          <p:cNvSpPr txBox="1"/>
          <p:nvPr/>
        </p:nvSpPr>
        <p:spPr>
          <a:xfrm>
            <a:off x="6422955" y="1783080"/>
            <a:ext cx="4851597"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Statement saved to disk</a:t>
            </a:r>
            <a:endParaRPr lang="en-US" sz="2000" dirty="0"/>
          </a:p>
        </p:txBody>
      </p:sp>
      <p:sp>
        <p:nvSpPr>
          <p:cNvPr id="8" name="Text 5"/>
          <p:cNvSpPr txBox="1"/>
          <p:nvPr/>
        </p:nvSpPr>
        <p:spPr>
          <a:xfrm>
            <a:off x="6422955" y="2240280"/>
            <a:ext cx="4851597" cy="178308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Account holder and statement date</a:t>
            </a:r>
            <a:endParaRPr lang="en-US" sz="1400" dirty="0"/>
          </a:p>
          <a:p>
            <a:pPr marL="228600" indent="-228600">
              <a:spcAft>
                <a:spcPts val="600"/>
              </a:spcAft>
              <a:buSzPct val="100000"/>
              <a:buChar char="•"/>
            </a:pPr>
            <a:r>
              <a:rPr lang="en-US" sz="1400" dirty="0">
                <a:solidFill>
                  <a:schemeClr val="tx1"/>
                </a:solidFill>
              </a:rPr>
              <a:t>Opening, deposit, withdrawal and closing totals</a:t>
            </a:r>
            <a:endParaRPr lang="en-US" sz="1400" dirty="0"/>
          </a:p>
          <a:p>
            <a:pPr marL="228600" indent="-228600">
              <a:spcAft>
                <a:spcPts val="600"/>
              </a:spcAft>
              <a:buSzPct val="100000"/>
              <a:buChar char="•"/>
            </a:pPr>
            <a:r>
              <a:rPr lang="en-US" sz="1400" dirty="0">
                <a:solidFill>
                  <a:schemeClr val="tx1"/>
                </a:solidFill>
              </a:rPr>
              <a:t>Full transaction table with IDs and balances</a:t>
            </a:r>
            <a:endParaRPr lang="en-US" sz="1400" dirty="0"/>
          </a:p>
          <a:p>
            <a:pPr marL="228600" indent="-228600">
              <a:spcAft>
                <a:spcPts val="600"/>
              </a:spcAft>
              <a:buSzPct val="100000"/>
              <a:buChar char="•"/>
            </a:pPr>
            <a:r>
              <a:rPr lang="en-US" sz="1400" dirty="0">
                <a:solidFill>
                  <a:schemeClr val="tx1"/>
                </a:solidFill>
              </a:rPr>
              <a:t>Transaction summary by type</a:t>
            </a:r>
            <a:endParaRPr lang="en-US" sz="1400" dirty="0"/>
          </a:p>
        </p:txBody>
      </p:sp>
      <p:sp>
        <p:nvSpPr>
          <p:cNvPr id="9" name="ShotFrame"/>
          <p:cNvSpPr/>
          <p:nvPr/>
        </p:nvSpPr>
        <p:spPr>
          <a:xfrm>
            <a:off x="6148635" y="4489704"/>
            <a:ext cx="2724912" cy="1328183"/>
          </a:xfrm>
          <a:prstGeom prst="rect">
            <a:avLst/>
          </a:prstGeom>
          <a:solidFill>
            <a:srgbClr val="FFFFFF"/>
          </a:solidFill>
          <a:ln w="12700">
            <a:solidFill>
              <a:srgbClr val="D5DEEA"/>
            </a:solidFill>
            <a:prstDash val="solid"/>
          </a:ln>
          <a:effectLst>
            <a:outerShdw blurRad="127000" dist="38100" dir="5400000" algn="bl" rotWithShape="0">
              <a:srgbClr val="0B1F3A">
                <a:alpha val="14000"/>
              </a:srgbClr>
            </a:outerShdw>
          </a:effectLst>
        </p:spPr>
      </p:sp>
      <p:pic>
        <p:nvPicPr>
          <p:cNvPr id="10" name="Image 1" descr="Program output screenshot"/>
          <p:cNvPicPr>
            <a:picLocks noChangeAspect="1"/>
          </p:cNvPicPr>
          <p:nvPr/>
        </p:nvPicPr>
        <p:blipFill>
          <a:blip r:embed="rId4"/>
          <a:stretch>
            <a:fillRect/>
          </a:stretch>
        </p:blipFill>
        <p:spPr>
          <a:xfrm>
            <a:off x="6185211" y="4526280"/>
            <a:ext cx="2651760" cy="1255031"/>
          </a:xfrm>
          <a:prstGeom prst="rect">
            <a:avLst/>
          </a:prstGeom>
        </p:spPr>
      </p:pic>
      <p:sp>
        <p:nvSpPr>
          <p:cNvPr id="11" name="Text 7"/>
          <p:cNvSpPr txBox="1"/>
          <p:nvPr/>
        </p:nvSpPr>
        <p:spPr>
          <a:xfrm>
            <a:off x="9074715" y="4526280"/>
            <a:ext cx="2474157" cy="1255031"/>
          </a:xfrm>
          <a:prstGeom prst="rect">
            <a:avLst/>
          </a:prstGeom>
          <a:noFill/>
          <a:ln/>
        </p:spPr>
        <p:txBody>
          <a:bodyPr wrap="square" lIns="0" tIns="0" rIns="0" bIns="0" rtlCol="0" anchor="ctr"/>
          <a:lstStyle/>
          <a:p>
            <a:pPr marL="0" indent="0">
              <a:buNone/>
            </a:pPr>
            <a:r>
              <a:rPr lang="en-US" sz="1400" dirty="0">
                <a:solidFill>
                  <a:schemeClr val="accent5"/>
                </a:solidFill>
              </a:rPr>
              <a:t>Clean exit from the menu</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640080" y="292608"/>
            <a:ext cx="7315200" cy="274320"/>
          </a:xfrm>
          <a:prstGeom prst="rect">
            <a:avLst/>
          </a:prstGeom>
          <a:noFill/>
          <a:ln/>
        </p:spPr>
        <p:txBody>
          <a:bodyPr wrap="square" lIns="0" tIns="0" rIns="0" bIns="0" rtlCol="0" anchor="ctr"/>
          <a:lstStyle/>
          <a:p>
            <a:pPr marL="0" indent="0">
              <a:buNone/>
            </a:pPr>
            <a:r>
              <a:rPr lang="en-US" sz="1200" b="1" kern="0" spc="300" dirty="0">
                <a:solidFill>
                  <a:srgbClr val="0E7C86"/>
                </a:solidFill>
              </a:rPr>
              <a:t>THANK YOU</a:t>
            </a:r>
            <a:endParaRPr lang="en-US" sz="1200" dirty="0"/>
          </a:p>
        </p:txBody>
      </p:sp>
      <p:sp>
        <p:nvSpPr>
          <p:cNvPr id="3" name="Text 0"/>
          <p:cNvSpPr>
            <a:spLocks noGrp="1"/>
          </p:cNvSpPr>
          <p:nvPr>
            <p:ph type="title" idx="100" hasCustomPrompt="1"/>
          </p:nvPr>
        </p:nvSpPr>
        <p:spPr>
          <a:xfrm>
            <a:off x="640080" y="548640"/>
            <a:ext cx="96926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Team &amp; Source Code</a:t>
            </a:r>
            <a:endParaRPr lang="en-US" sz="3600" dirty="0"/>
          </a:p>
        </p:txBody>
      </p:sp>
      <p:pic>
        <p:nvPicPr>
          <p:cNvPr id="4" name="Image 0" descr="Geo-tagged team photo, Hyderabad"/>
          <p:cNvPicPr>
            <a:picLocks noChangeAspect="1"/>
          </p:cNvPicPr>
          <p:nvPr/>
        </p:nvPicPr>
        <p:blipFill>
          <a:blip r:embed="rId3"/>
          <a:stretch>
            <a:fillRect/>
          </a:stretch>
        </p:blipFill>
        <p:spPr>
          <a:xfrm>
            <a:off x="7525512" y="1600200"/>
            <a:ext cx="4023360" cy="3017520"/>
          </a:xfrm>
          <a:prstGeom prst="rect">
            <a:avLst/>
          </a:prstGeom>
          <a:effectLst>
            <a:outerShdw blurRad="177800" dist="63500" dir="5400000" algn="bl" rotWithShape="0">
              <a:srgbClr val="000000">
                <a:alpha val="40000"/>
              </a:srgbClr>
            </a:outerShdw>
          </a:effectLst>
        </p:spPr>
      </p:pic>
      <p:sp>
        <p:nvSpPr>
          <p:cNvPr id="5" name="Text 2"/>
          <p:cNvSpPr txBox="1"/>
          <p:nvPr/>
        </p:nvSpPr>
        <p:spPr>
          <a:xfrm>
            <a:off x="7525512" y="4727448"/>
            <a:ext cx="4023360" cy="320040"/>
          </a:xfrm>
          <a:prstGeom prst="rect">
            <a:avLst/>
          </a:prstGeom>
          <a:noFill/>
          <a:ln/>
        </p:spPr>
        <p:txBody>
          <a:bodyPr wrap="square" lIns="0" tIns="0" rIns="0" bIns="0" rtlCol="0" anchor="ctr"/>
          <a:lstStyle/>
          <a:p>
            <a:pPr marL="0" indent="0">
              <a:buNone/>
            </a:pPr>
            <a:r>
              <a:rPr lang="en-US" sz="1300" dirty="0">
                <a:solidFill>
                  <a:srgbClr val="5B6B82"/>
                </a:solidFill>
              </a:rPr>
              <a:t>Geo-tagged team photo · Hyderabad, Telangana</a:t>
            </a:r>
            <a:endParaRPr lang="en-US" sz="1300" dirty="0"/>
          </a:p>
        </p:txBody>
      </p:sp>
      <p:sp>
        <p:nvSpPr>
          <p:cNvPr id="6" name="LinkCard"/>
          <p:cNvSpPr/>
          <p:nvPr/>
        </p:nvSpPr>
        <p:spPr>
          <a:xfrm>
            <a:off x="640080" y="1600200"/>
            <a:ext cx="6583680" cy="1188720"/>
          </a:xfrm>
          <a:prstGeom prst="roundRect">
            <a:avLst>
              <a:gd name="adj" fmla="val 9231"/>
            </a:avLst>
          </a:prstGeom>
          <a:solidFill>
            <a:srgbClr val="EEF3F8"/>
          </a:solidFill>
          <a:ln w="9525">
            <a:solidFill>
              <a:srgbClr val="D5DEEA"/>
            </a:solidFill>
            <a:prstDash val="solid"/>
          </a:ln>
        </p:spPr>
      </p:sp>
      <p:sp>
        <p:nvSpPr>
          <p:cNvPr id="7" name="IconCircle"/>
          <p:cNvSpPr/>
          <p:nvPr/>
        </p:nvSpPr>
        <p:spPr>
          <a:xfrm>
            <a:off x="868680" y="1847088"/>
            <a:ext cx="694944" cy="694944"/>
          </a:xfrm>
          <a:prstGeom prst="ellipse">
            <a:avLst/>
          </a:prstGeom>
          <a:solidFill>
            <a:srgbClr val="1FA37A"/>
          </a:solidFill>
          <a:ln w="12700">
            <a:solidFill>
              <a:srgbClr val="1FA37A"/>
            </a:solidFill>
            <a:prstDash val="solid"/>
          </a:ln>
        </p:spPr>
      </p:sp>
      <p:pic>
        <p:nvPicPr>
          <p:cNvPr id="8" name="Image 1" descr="icon"/>
          <p:cNvPicPr>
            <a:picLocks noChangeAspect="1"/>
          </p:cNvPicPr>
          <p:nvPr/>
        </p:nvPicPr>
        <p:blipFill>
          <a:blip r:embed="rId4"/>
          <a:stretch>
            <a:fillRect/>
          </a:stretch>
        </p:blipFill>
        <p:spPr>
          <a:xfrm>
            <a:off x="1056315" y="2034723"/>
            <a:ext cx="319674" cy="319674"/>
          </a:xfrm>
          <a:prstGeom prst="rect">
            <a:avLst/>
          </a:prstGeom>
        </p:spPr>
      </p:pic>
      <p:sp>
        <p:nvSpPr>
          <p:cNvPr id="9" name="Text 5"/>
          <p:cNvSpPr txBox="1"/>
          <p:nvPr/>
        </p:nvSpPr>
        <p:spPr>
          <a:xfrm>
            <a:off x="1783080" y="1600200"/>
            <a:ext cx="5303520" cy="1188720"/>
          </a:xfrm>
          <a:prstGeom prst="rect">
            <a:avLst/>
          </a:prstGeom>
          <a:noFill/>
          <a:ln/>
        </p:spPr>
        <p:txBody>
          <a:bodyPr wrap="square" lIns="0" tIns="0" rIns="0" bIns="0" rtlCol="0" anchor="ctr"/>
          <a:lstStyle/>
          <a:p>
            <a:pPr marL="0" indent="0">
              <a:buNone/>
            </a:pPr>
            <a:r>
              <a:rPr lang="en-US" sz="1200" b="1" kern="0" spc="200" dirty="0">
                <a:solidFill>
                  <a:srgbClr val="0E7C86"/>
                </a:solidFill>
              </a:rPr>
              <a:t>PROJECT REPOSITORY</a:t>
            </a:r>
            <a:endParaRPr lang="en-US" sz="1200" dirty="0"/>
          </a:p>
          <a:p>
            <a:pPr marL="0" indent="0">
              <a:buNone/>
            </a:pPr>
            <a:r>
              <a:rPr lang="en-US" sz="1400" u="sng" dirty="0">
                <a:solidFill>
                  <a:srgbClr val="1F5FA8"/>
                </a:solidFill>
                <a:hlinkClick r:id="rId5">
                  <a:extLst>
                    <a:ext uri="{A12FA001-AC4F-418D-AE19-62706E023703}">
                      <ahyp:hlinkClr xmlns:ahyp="http://schemas.microsoft.com/office/drawing/2018/hyperlinkcolor" val="tx"/>
                    </a:ext>
                  </a:extLst>
                </a:hlinkClick>
              </a:rPr>
              <a:t>https://github.com/reddy68n/PERSONAL-BANKING-LEDGER-STATEMENT-GENERATOR.git</a:t>
            </a:r>
            <a:endParaRPr lang="en-US" sz="1200" dirty="0"/>
          </a:p>
        </p:txBody>
      </p:sp>
      <p:sp>
        <p:nvSpPr>
          <p:cNvPr id="10" name="LinkCard"/>
          <p:cNvSpPr/>
          <p:nvPr/>
        </p:nvSpPr>
        <p:spPr>
          <a:xfrm>
            <a:off x="640080" y="2971800"/>
            <a:ext cx="6583680" cy="1188720"/>
          </a:xfrm>
          <a:prstGeom prst="roundRect">
            <a:avLst>
              <a:gd name="adj" fmla="val 9231"/>
            </a:avLst>
          </a:prstGeom>
          <a:solidFill>
            <a:srgbClr val="EEF3F8"/>
          </a:solidFill>
          <a:ln w="9525">
            <a:solidFill>
              <a:srgbClr val="D5DEEA"/>
            </a:solidFill>
            <a:prstDash val="solid"/>
          </a:ln>
        </p:spPr>
      </p:sp>
      <p:sp>
        <p:nvSpPr>
          <p:cNvPr id="11" name="IconCircle"/>
          <p:cNvSpPr/>
          <p:nvPr/>
        </p:nvSpPr>
        <p:spPr>
          <a:xfrm>
            <a:off x="868680" y="3218688"/>
            <a:ext cx="694944" cy="694944"/>
          </a:xfrm>
          <a:prstGeom prst="ellipse">
            <a:avLst/>
          </a:prstGeom>
          <a:solidFill>
            <a:srgbClr val="1FA37A"/>
          </a:solidFill>
          <a:ln w="12700">
            <a:solidFill>
              <a:srgbClr val="1FA37A"/>
            </a:solidFill>
            <a:prstDash val="solid"/>
          </a:ln>
        </p:spPr>
      </p:sp>
      <p:pic>
        <p:nvPicPr>
          <p:cNvPr id="12" name="Image 2" descr="icon"/>
          <p:cNvPicPr>
            <a:picLocks noChangeAspect="1"/>
          </p:cNvPicPr>
          <p:nvPr/>
        </p:nvPicPr>
        <p:blipFill>
          <a:blip r:embed="rId4"/>
          <a:stretch>
            <a:fillRect/>
          </a:stretch>
        </p:blipFill>
        <p:spPr>
          <a:xfrm>
            <a:off x="1056315" y="3406323"/>
            <a:ext cx="319674" cy="319674"/>
          </a:xfrm>
          <a:prstGeom prst="rect">
            <a:avLst/>
          </a:prstGeom>
        </p:spPr>
      </p:pic>
      <p:sp>
        <p:nvSpPr>
          <p:cNvPr id="13" name="Text 8"/>
          <p:cNvSpPr txBox="1"/>
          <p:nvPr/>
        </p:nvSpPr>
        <p:spPr>
          <a:xfrm>
            <a:off x="1783080" y="2971800"/>
            <a:ext cx="5303520" cy="1188720"/>
          </a:xfrm>
          <a:prstGeom prst="rect">
            <a:avLst/>
          </a:prstGeom>
          <a:noFill/>
          <a:ln/>
        </p:spPr>
        <p:txBody>
          <a:bodyPr wrap="square" lIns="0" tIns="0" rIns="0" bIns="0" rtlCol="0" anchor="ctr"/>
          <a:lstStyle/>
          <a:p>
            <a:pPr marL="0" indent="0">
              <a:buNone/>
            </a:pPr>
            <a:r>
              <a:rPr lang="en-US" sz="1200" b="1" kern="0" spc="200" dirty="0">
                <a:solidFill>
                  <a:srgbClr val="0E7C86"/>
                </a:solidFill>
              </a:rPr>
              <a:t>NARASIMHA REDDY</a:t>
            </a:r>
            <a:endParaRPr lang="en-US" sz="1200" dirty="0"/>
          </a:p>
          <a:p>
            <a:pPr marL="0" indent="0">
              <a:buNone/>
            </a:pPr>
            <a:r>
              <a:rPr lang="en-US" sz="1400" u="sng" dirty="0">
                <a:solidFill>
                  <a:srgbClr val="1F5FA8"/>
                </a:solidFill>
                <a:hlinkClick r:id="rId6">
                  <a:extLst>
                    <a:ext uri="{A12FA001-AC4F-418D-AE19-62706E023703}">
                      <ahyp:hlinkClr xmlns:ahyp="http://schemas.microsoft.com/office/drawing/2018/hyperlinkcolor" val="tx"/>
                    </a:ext>
                  </a:extLst>
                </a:hlinkClick>
              </a:rPr>
              <a:t>https://github.com/reddy68n</a:t>
            </a:r>
            <a:endParaRPr lang="en-US" sz="1200" dirty="0"/>
          </a:p>
        </p:txBody>
      </p:sp>
      <p:sp>
        <p:nvSpPr>
          <p:cNvPr id="14" name="LinkCard"/>
          <p:cNvSpPr/>
          <p:nvPr/>
        </p:nvSpPr>
        <p:spPr>
          <a:xfrm>
            <a:off x="640080" y="4343400"/>
            <a:ext cx="6583680" cy="1188720"/>
          </a:xfrm>
          <a:prstGeom prst="roundRect">
            <a:avLst>
              <a:gd name="adj" fmla="val 9231"/>
            </a:avLst>
          </a:prstGeom>
          <a:solidFill>
            <a:srgbClr val="EEF3F8"/>
          </a:solidFill>
          <a:ln w="9525">
            <a:solidFill>
              <a:srgbClr val="D5DEEA"/>
            </a:solidFill>
            <a:prstDash val="solid"/>
          </a:ln>
        </p:spPr>
      </p:sp>
      <p:sp>
        <p:nvSpPr>
          <p:cNvPr id="15" name="IconCircle"/>
          <p:cNvSpPr/>
          <p:nvPr/>
        </p:nvSpPr>
        <p:spPr>
          <a:xfrm>
            <a:off x="868680" y="4590288"/>
            <a:ext cx="694944" cy="694944"/>
          </a:xfrm>
          <a:prstGeom prst="ellipse">
            <a:avLst/>
          </a:prstGeom>
          <a:solidFill>
            <a:srgbClr val="1FA37A"/>
          </a:solidFill>
          <a:ln w="12700">
            <a:solidFill>
              <a:srgbClr val="1FA37A"/>
            </a:solidFill>
            <a:prstDash val="solid"/>
          </a:ln>
        </p:spPr>
      </p:sp>
      <p:pic>
        <p:nvPicPr>
          <p:cNvPr id="16" name="Image 3" descr="icon"/>
          <p:cNvPicPr>
            <a:picLocks noChangeAspect="1"/>
          </p:cNvPicPr>
          <p:nvPr/>
        </p:nvPicPr>
        <p:blipFill>
          <a:blip r:embed="rId4"/>
          <a:stretch>
            <a:fillRect/>
          </a:stretch>
        </p:blipFill>
        <p:spPr>
          <a:xfrm>
            <a:off x="1056315" y="4777923"/>
            <a:ext cx="319674" cy="319674"/>
          </a:xfrm>
          <a:prstGeom prst="rect">
            <a:avLst/>
          </a:prstGeom>
        </p:spPr>
      </p:pic>
      <p:sp>
        <p:nvSpPr>
          <p:cNvPr id="17" name="Text 11"/>
          <p:cNvSpPr txBox="1"/>
          <p:nvPr/>
        </p:nvSpPr>
        <p:spPr>
          <a:xfrm>
            <a:off x="1783080" y="4343400"/>
            <a:ext cx="5303520" cy="1188720"/>
          </a:xfrm>
          <a:prstGeom prst="rect">
            <a:avLst/>
          </a:prstGeom>
          <a:noFill/>
          <a:ln/>
        </p:spPr>
        <p:txBody>
          <a:bodyPr wrap="square" lIns="0" tIns="0" rIns="0" bIns="0" rtlCol="0" anchor="ctr"/>
          <a:lstStyle/>
          <a:p>
            <a:pPr marL="0" indent="0">
              <a:buNone/>
            </a:pPr>
            <a:r>
              <a:rPr lang="en-US" sz="1200" b="1" kern="0" spc="200" dirty="0">
                <a:solidFill>
                  <a:srgbClr val="0E7C86"/>
                </a:solidFill>
              </a:rPr>
              <a:t>SAI KUMAR</a:t>
            </a:r>
            <a:endParaRPr lang="en-US" sz="1200" dirty="0"/>
          </a:p>
          <a:p>
            <a:pPr marL="0" indent="0">
              <a:buNone/>
            </a:pPr>
            <a:r>
              <a:rPr lang="en-US" sz="1400" u="sng" dirty="0">
                <a:solidFill>
                  <a:srgbClr val="1F5FA8"/>
                </a:solidFill>
                <a:hlinkClick r:id="rId7">
                  <a:extLst>
                    <a:ext uri="{A12FA001-AC4F-418D-AE19-62706E023703}">
                      <ahyp:hlinkClr xmlns:ahyp="http://schemas.microsoft.com/office/drawing/2018/hyperlinkcolor" val="tx"/>
                    </a:ext>
                  </a:extLst>
                </a:hlinkClick>
              </a:rPr>
              <a:t>https://github.com/ratala-saikumar</a:t>
            </a:r>
            <a:endParaRPr lang="en-US" sz="1200" dirty="0"/>
          </a:p>
        </p:txBody>
      </p:sp>
      <p:sp>
        <p:nvSpPr>
          <p:cNvPr id="18" name="Text 12"/>
          <p:cNvSpPr txBox="1"/>
          <p:nvPr/>
        </p:nvSpPr>
        <p:spPr>
          <a:xfrm>
            <a:off x="640080" y="5852160"/>
            <a:ext cx="6583680" cy="320040"/>
          </a:xfrm>
          <a:prstGeom prst="rect">
            <a:avLst/>
          </a:prstGeom>
          <a:noFill/>
          <a:ln/>
        </p:spPr>
        <p:txBody>
          <a:bodyPr wrap="square" lIns="0" tIns="0" rIns="0" bIns="0" rtlCol="0" anchor="ctr"/>
          <a:lstStyle/>
          <a:p>
            <a:pPr marL="0" indent="0">
              <a:buNone/>
            </a:pPr>
            <a:r>
              <a:rPr lang="en-US" sz="1400" dirty="0">
                <a:solidFill>
                  <a:srgbClr val="5B6B82"/>
                </a:solidFill>
              </a:rPr>
              <a:t>R. Sai Kumar (2620090005)  ·  Narasimha Reddy (2620040086)  ·  Team 10</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82"/>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Ledger">
  <a:themeElements>
    <a:clrScheme name="Ledger">
      <a:dk1>
        <a:srgbClr val="0B1F3A"/>
      </a:dk1>
      <a:lt1>
        <a:srgbClr val="FFFFFF"/>
      </a:lt1>
      <a:dk2>
        <a:srgbClr val="173A66"/>
      </a:dk2>
      <a:lt2>
        <a:srgbClr val="EEF3F8"/>
      </a:lt2>
      <a:accent1>
        <a:srgbClr val="1FA37A"/>
      </a:accent1>
      <a:accent2>
        <a:srgbClr val="C9A227"/>
      </a:accent2>
      <a:accent3>
        <a:srgbClr val="2F6FB3"/>
      </a:accent3>
      <a:accent4>
        <a:srgbClr val="D9534F"/>
      </a:accent4>
      <a:accent5>
        <a:srgbClr val="5B6B82"/>
      </a:accent5>
      <a:accent6>
        <a:srgbClr val="0E7C86"/>
      </a:accent6>
      <a:hlink>
        <a:srgbClr val="7FD6B8"/>
      </a:hlink>
      <a:folHlink>
        <a:srgbClr val="B9C7DA"/>
      </a:folHlink>
    </a:clrScheme>
    <a:fontScheme name="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1397</Words>
  <Application>Microsoft Office PowerPoint</Application>
  <PresentationFormat>Widescreen</PresentationFormat>
  <Paragraphs>204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Cambria</vt:lpstr>
      <vt:lpstr>Ledger</vt:lpstr>
      <vt:lpstr>Personal Bank Ledger and Statement Generator</vt:lpstr>
      <vt:lpstr>Abstract</vt:lpstr>
      <vt:lpstr>Understanding the Problem</vt:lpstr>
      <vt:lpstr>What the System Does</vt:lpstr>
      <vt:lpstr>CO 1  ·  Fundamentals &amp; I/O</vt:lpstr>
      <vt:lpstr>CO 2  ·  Control Flow &amp; Menus</vt:lpstr>
      <vt:lpstr>CO 3  ·  Methods &amp; Recursion</vt:lpstr>
      <vt:lpstr>CO 4  ·  Object-Oriented Programming</vt:lpstr>
      <vt:lpstr>CO 5  ·  Strings &amp; File Handling</vt:lpstr>
      <vt:lpstr>CO 6  ·  Collections &amp; Streams</vt:lpstr>
      <vt:lpstr>Conclusion</vt:lpstr>
      <vt:lpstr>Output: Deposits, Withdrawals &amp; Validation</vt:lpstr>
      <vt:lpstr>Output: History, Search &amp; Summary</vt:lpstr>
      <vt:lpstr>Generated File: ledger_statement.txt</vt:lpstr>
      <vt:lpstr>Team &amp; Source Code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Bank Ledger and Statement Generator</dc:title>
  <dc:subject>PptxGenJS Presentation</dc:subject>
  <dc:creator>Narasimha Reddy</dc:creator>
  <cp:lastModifiedBy>Narasimha Reddy</cp:lastModifiedBy>
  <cp:revision>1</cp:revision>
  <dcterms:created xsi:type="dcterms:W3CDTF">2026-10-15T16:59:49Z</dcterms:created>
  <dcterms:modified xsi:type="dcterms:W3CDTF">2026-10-16T06:03:09Z</dcterms:modified>
</cp:coreProperties>
</file>